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50" r:id="rId5"/>
    <p:sldMasterId id="2147483851" r:id="rId6"/>
    <p:sldMasterId id="2147483852" r:id="rId7"/>
    <p:sldMasterId id="2147483853" r:id="rId8"/>
    <p:sldMasterId id="2147483854" r:id="rId9"/>
    <p:sldMasterId id="2147483855" r:id="rId10"/>
    <p:sldMasterId id="2147483856" r:id="rId11"/>
    <p:sldMasterId id="2147483857" r:id="rId12"/>
    <p:sldMasterId id="2147483858" r:id="rId13"/>
    <p:sldMasterId id="2147483859" r:id="rId14"/>
    <p:sldMasterId id="2147483860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Didact Gothic"/>
      <p:regular r:id="rId40"/>
    </p:embeddedFont>
    <p:embeddedFont>
      <p:font typeface="Questrial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edric Emmanuel KIR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idactGothic-regular.fntdata"/><Relationship Id="rId20" Type="http://schemas.openxmlformats.org/officeDocument/2006/relationships/slide" Target="slides/slide4.xml"/><Relationship Id="rId41" Type="http://schemas.openxmlformats.org/officeDocument/2006/relationships/font" Target="fonts/Questrial-regular.fntdata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17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6.xml"/><Relationship Id="rId13" Type="http://schemas.openxmlformats.org/officeDocument/2006/relationships/slideMaster" Target="slideMasters/slideMaster9.xml"/><Relationship Id="rId35" Type="http://schemas.openxmlformats.org/officeDocument/2006/relationships/slide" Target="slides/slide19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18.xml"/><Relationship Id="rId15" Type="http://schemas.openxmlformats.org/officeDocument/2006/relationships/slideMaster" Target="slideMasters/slideMaster11.xml"/><Relationship Id="rId37" Type="http://schemas.openxmlformats.org/officeDocument/2006/relationships/font" Target="fonts/Roboto-bold.fntdata"/><Relationship Id="rId14" Type="http://schemas.openxmlformats.org/officeDocument/2006/relationships/slideMaster" Target="slideMasters/slideMaster10.xml"/><Relationship Id="rId36" Type="http://schemas.openxmlformats.org/officeDocument/2006/relationships/font" Target="fonts/Roboto-regular.fntdata"/><Relationship Id="rId17" Type="http://schemas.openxmlformats.org/officeDocument/2006/relationships/slide" Target="slides/slide1.xml"/><Relationship Id="rId39" Type="http://schemas.openxmlformats.org/officeDocument/2006/relationships/font" Target="fonts/Roboto-boldItalic.fntdata"/><Relationship Id="rId16" Type="http://schemas.openxmlformats.org/officeDocument/2006/relationships/notesMaster" Target="notesMasters/notesMaster1.xml"/><Relationship Id="rId38" Type="http://schemas.openxmlformats.org/officeDocument/2006/relationships/font" Target="fonts/Roboto-italic.fntdata"/><Relationship Id="rId19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8T22:53:52.939">
    <p:pos x="2856" y="986"/>
    <p:text>what I was suggesting on the previous slide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38440d559e2_1_3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9" name="Google Shape;1649;g38440d559e2_1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8440d559e2_1_7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g38440d559e2_1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jbkjgkkhlknl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8440d559e2_1_1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g38440d559e2_1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8440d559e2_1_2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g38440d559e2_1_2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8470693543_2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4" name="Google Shape;1744;g38470693543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8440d559e2_1_14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0" name="Google Shape;1770;g38440d559e2_1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8440d559e2_1_25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9" name="Google Shape;1789;g38440d559e2_1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8485d93f42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g38485d93f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8470693543_2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g38470693543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38440d559e2_1_18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5" name="Google Shape;1845;g38440d559e2_1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8440d559e2_1_29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3" name="Google Shape;1863;g38440d559e2_1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384979ba67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2" name="Google Shape;1882;g384979ba6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38485d93f42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0" name="Google Shape;1900;g38485d93f4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grade=C2, target=Good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323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grade=E1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198868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grade=C5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Instance 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141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income=</a:t>
            </a:r>
            <a:r>
              <a:rPr lang="fr" sz="1050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rate=</a:t>
            </a:r>
            <a:r>
              <a:rPr lang="fr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19.99</a:t>
            </a:r>
            <a:r>
              <a:rPr lang="fr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%, grade=E1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8485d93f42_1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3" name="Google Shape;1933;g38485d93f42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847069354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6" name="Google Shape;1966;g384706935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8440d559e2_1_3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3" name="Google Shape;1983;g38440d559e2_1_3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38470693543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3" name="Google Shape;2003;g38470693543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8470693543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g38470693543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8440d559e2_1_38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3" name="Google Shape;2033;g38440d559e2_1_3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ajouter ce qui est fait, les limites, et les ameliorations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3" name="Google Shape;53;p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1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4" name="Google Shape;64;p1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2" name="Google Shape;72;p1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9" name="Google Shape;79;p1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5" name="Google Shape;85;p1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8" name="Google Shape;88;p1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1" name="Google Shape;91;p1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8" name="Google Shape;98;p1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2" name="Google Shape;102;p1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3" name="Google Shape;103;p1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4" name="Google Shape;104;p1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9" name="Google Shape;109;p1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3" name="Google Shape;113;p1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8" name="Google Shape;118;p2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2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5" name="Google Shape;125;p2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" name="Google Shape;132;p2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5" name="Google Shape;135;p2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36" name="Google Shape;136;p2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137" name="Google Shape;137;p2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2" name="Google Shape;142;p2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2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0" name="Google Shape;150;p2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" name="Google Shape;159;p2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2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2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8" name="Google Shape;168;p2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76" name="Google Shape;176;p2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83" name="Google Shape;183;p2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6" name="Google Shape;186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2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91" name="Google Shape;191;p2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2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3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98" name="Google Shape;198;p3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07" name="Google Shape;207;p3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3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13" name="Google Shape;213;p3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3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23" name="Google Shape;223;p3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3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6" name="Google Shape;226;p3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3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31" name="Google Shape;231;p3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3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3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38" name="Google Shape;238;p3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3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43" name="Google Shape;243;p3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4" name="Google Shape;244;p3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46" name="Google Shape;246;p3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7" name="Google Shape;247;p3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49" name="Google Shape;249;p3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50" name="Google Shape;250;p3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52" name="Google Shape;252;p3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53" name="Google Shape;253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3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57" name="Google Shape;257;p3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260" name="Google Shape;260;p3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61" name="Google Shape;261;p3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62" name="Google Shape;262;p3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63" name="Google Shape;263;p3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3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68" name="Google Shape;268;p3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271" name="Google Shape;271;p3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72" name="Google Shape;272;p3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p4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77" name="Google Shape;277;p4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4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84" name="Google Shape;284;p4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4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4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291" name="Google Shape;291;p4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4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94" name="Google Shape;294;p4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95" name="Google Shape;295;p4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296" name="Google Shape;296;p4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01" name="Google Shape;301;p4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4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09" name="Google Shape;309;p4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4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12" name="Google Shape;312;p4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4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18" name="Google Shape;318;p4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4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2" name="Google Shape;322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3" name="Google Shape;32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4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27" name="Google Shape;327;p4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4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35" name="Google Shape;335;p4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8" name="Google Shape;338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4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42" name="Google Shape;342;p4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5" name="Google Shape;34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6" name="Google Shape;34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" name="Google Shape;349;p4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50" name="Google Shape;350;p4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4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53" name="Google Shape;35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5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57" name="Google Shape;357;p5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5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5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66" name="Google Shape;366;p5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5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72" name="Google Shape;372;p5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5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82" name="Google Shape;382;p5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5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5" name="Google Shape;385;p5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86" name="Google Shape;386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5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90" name="Google Shape;390;p5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5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5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397" name="Google Shape;397;p5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5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00" name="Google Shape;400;p5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02" name="Google Shape;402;p5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3" name="Google Shape;403;p5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05" name="Google Shape;405;p5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6" name="Google Shape;406;p5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5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08" name="Google Shape;408;p5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9" name="Google Shape;409;p5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1" name="Google Shape;411;p5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2" name="Google Shape;412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5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16" name="Google Shape;416;p5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5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420" name="Google Shape;420;p5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21" name="Google Shape;421;p5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2" name="Google Shape;422;p5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5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27" name="Google Shape;427;p5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5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430" name="Google Shape;430;p5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431" name="Google Shape;431;p5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6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36" name="Google Shape;436;p6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6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6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6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43" name="Google Shape;443;p6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6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46" name="Google Shape;446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6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50" name="Google Shape;450;p6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6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53" name="Google Shape;453;p6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4" name="Google Shape;454;p6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455" name="Google Shape;455;p6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456" name="Google Shape;456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6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60" name="Google Shape;460;p6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6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6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63" name="Google Shape;463;p6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4" name="Google Shape;464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6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68" name="Google Shape;468;p6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6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6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71" name="Google Shape;471;p6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2" name="Google Shape;472;p6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6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77" name="Google Shape;477;p6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6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6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80" name="Google Shape;480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2" name="Google Shape;482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6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86" name="Google Shape;486;p6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6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9" name="Google Shape;489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0" name="Google Shape;490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p6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494" name="Google Shape;494;p6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7" name="Google Shape;497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6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01" name="Google Shape;501;p6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4" name="Google Shape;504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5" name="Google Shape;505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6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09" name="Google Shape;509;p6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6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6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12" name="Google Shape;512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7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16" name="Google Shape;516;p7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7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7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9" name="Google Shape;519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7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25" name="Google Shape;525;p7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7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31" name="Google Shape;531;p7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7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7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41" name="Google Shape;541;p7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7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44" name="Google Shape;544;p7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45" name="Google Shape;545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7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49" name="Google Shape;549;p7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7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p7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52" name="Google Shape;552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7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56" name="Google Shape;556;p7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7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59" name="Google Shape;559;p7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7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61" name="Google Shape;561;p7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62" name="Google Shape;562;p7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7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64" name="Google Shape;564;p7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65" name="Google Shape;565;p7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7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67" name="Google Shape;567;p7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68" name="Google Shape;568;p7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7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70" name="Google Shape;570;p7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71" name="Google Shape;571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p7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75" name="Google Shape;575;p7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7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578" name="Google Shape;578;p7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79" name="Google Shape;579;p7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80" name="Google Shape;580;p7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81" name="Google Shape;581;p7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7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86" name="Google Shape;586;p7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7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589" name="Google Shape;589;p7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590" name="Google Shape;590;p7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1" name="Google Shape;591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8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595" name="Google Shape;595;p8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8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98" name="Google Shape;598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8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02" name="Google Shape;602;p8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8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05" name="Google Shape;605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8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09" name="Google Shape;609;p8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8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p8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12" name="Google Shape;612;p8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13" name="Google Shape;613;p8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614" name="Google Shape;614;p8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615" name="Google Shape;615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8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19" name="Google Shape;619;p8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8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22" name="Google Shape;622;p8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3" name="Google Shape;623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8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27" name="Google Shape;627;p8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8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8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30" name="Google Shape;630;p8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1" name="Google Shape;631;p8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8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36" name="Google Shape;636;p8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8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8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39" name="Google Shape;639;p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0" name="Google Shape;640;p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8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45" name="Google Shape;645;p8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8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8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8" name="Google Shape;648;p8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9" name="Google Shape;649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2" name="Google Shape;652;p8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53" name="Google Shape;653;p8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8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6" name="Google Shape;656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9" name="Google Shape;659;p8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60" name="Google Shape;660;p8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8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8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3" name="Google Shape;663;p8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4" name="Google Shape;66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8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68" name="Google Shape;668;p8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8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0" name="Google Shape;670;p8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71" name="Google Shape;671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9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75" name="Google Shape;675;p9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7" name="Google Shape;677;p9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8" name="Google Shape;678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9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84" name="Google Shape;684;p9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9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p9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690" name="Google Shape;690;p9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9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9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00" name="Google Shape;700;p9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9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p9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03" name="Google Shape;703;p9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04" name="Google Shape;704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" name="Google Shape;707;p9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08" name="Google Shape;708;p9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0" name="Google Shape;710;p9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11" name="Google Shape;711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9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15" name="Google Shape;715;p9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p9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18" name="Google Shape;718;p9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0" name="Google Shape;720;p9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21" name="Google Shape;721;p9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2" name="Google Shape;722;p9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3" name="Google Shape;723;p9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24" name="Google Shape;724;p9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5" name="Google Shape;725;p9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6" name="Google Shape;726;p9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27" name="Google Shape;727;p9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8" name="Google Shape;728;p9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9" name="Google Shape;729;p9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30" name="Google Shape;730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9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34" name="Google Shape;734;p9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9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737" name="Google Shape;737;p9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38" name="Google Shape;738;p9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9" name="Google Shape;739;p9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40" name="Google Shape;740;p9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4" name="Google Shape;744;p9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45" name="Google Shape;745;p9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9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Google Shape;747;p9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748" name="Google Shape;748;p9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49" name="Google Shape;749;p9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0" name="Google Shape;75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p10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54" name="Google Shape;754;p10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0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6" name="Google Shape;756;p10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57" name="Google Shape;757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10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61" name="Google Shape;761;p10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0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3" name="Google Shape;763;p10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64" name="Google Shape;764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p10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68" name="Google Shape;768;p10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0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0" name="Google Shape;770;p10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771" name="Google Shape;771;p10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72" name="Google Shape;772;p10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773" name="Google Shape;773;p10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774" name="Google Shape;774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10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78" name="Google Shape;778;p10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0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0" name="Google Shape;780;p10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81" name="Google Shape;781;p10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2" name="Google Shape;782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p10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86" name="Google Shape;786;p10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0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8" name="Google Shape;788;p10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89" name="Google Shape;789;p10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0" name="Google Shape;790;p10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1" name="Google Shape;791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0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10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795" name="Google Shape;795;p10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0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Google Shape;797;p10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98" name="Google Shape;798;p1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9" name="Google Shape;799;p1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0" name="Google Shape;800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10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04" name="Google Shape;804;p10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0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6" name="Google Shape;806;p10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7" name="Google Shape;807;p10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8" name="Google Shape;808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0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p10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12" name="Google Shape;812;p10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0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4" name="Google Shape;814;p10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5" name="Google Shape;815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8" name="Google Shape;818;p10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19" name="Google Shape;819;p10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0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1" name="Google Shape;821;p1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2" name="Google Shape;822;p1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3" name="Google Shape;823;p1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10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27" name="Google Shape;827;p10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0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10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30" name="Google Shape;830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1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3" name="Google Shape;833;p11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34" name="Google Shape;834;p11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1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6" name="Google Shape;836;p11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7" name="Google Shape;837;p1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1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p11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43" name="Google Shape;843;p11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1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5" name="Google Shape;845;p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8" name="Google Shape;848;p1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49" name="Google Shape;849;p1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1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11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59" name="Google Shape;859;p11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1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1" name="Google Shape;861;p11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62" name="Google Shape;862;p11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863" name="Google Shape;863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11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67" name="Google Shape;867;p11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1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9" name="Google Shape;869;p11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70" name="Google Shape;870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3" name="Google Shape;873;p11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74" name="Google Shape;874;p11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1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6" name="Google Shape;876;p11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77" name="Google Shape;877;p11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11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79" name="Google Shape;879;p11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80" name="Google Shape;880;p11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11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82" name="Google Shape;882;p11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83" name="Google Shape;883;p11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4" name="Google Shape;884;p11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85" name="Google Shape;885;p11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86" name="Google Shape;886;p11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11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88" name="Google Shape;888;p11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89" name="Google Shape;889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2" name="Google Shape;892;p11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893" name="Google Shape;893;p11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1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5" name="Google Shape;895;p11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896" name="Google Shape;896;p11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897" name="Google Shape;897;p11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98" name="Google Shape;898;p11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99" name="Google Shape;899;p11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3" name="Google Shape;903;p11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04" name="Google Shape;904;p11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1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6" name="Google Shape;906;p11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907" name="Google Shape;907;p11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908" name="Google Shape;908;p11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09" name="Google Shape;909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2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12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13" name="Google Shape;913;p12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2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12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6" name="Google Shape;916;p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2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12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20" name="Google Shape;920;p12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2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2" name="Google Shape;922;p12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23" name="Google Shape;923;p1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2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6" name="Google Shape;926;p12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27" name="Google Shape;927;p12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2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p12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30" name="Google Shape;930;p12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931" name="Google Shape;931;p12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932" name="Google Shape;932;p12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933" name="Google Shape;933;p1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2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12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37" name="Google Shape;937;p12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2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9" name="Google Shape;939;p12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40" name="Google Shape;940;p12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1" name="Google Shape;941;p1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2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12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45" name="Google Shape;945;p12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2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7" name="Google Shape;947;p12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48" name="Google Shape;948;p12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9" name="Google Shape;949;p12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0" name="Google Shape;950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3" name="Google Shape;953;p12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54" name="Google Shape;954;p12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2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6" name="Google Shape;956;p12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57" name="Google Shape;957;p1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8" name="Google Shape;958;p1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9" name="Google Shape;959;p1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2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2" name="Google Shape;962;p12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63" name="Google Shape;963;p12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2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5" name="Google Shape;965;p1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6" name="Google Shape;966;p1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7" name="Google Shape;967;p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2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12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71" name="Google Shape;971;p12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2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p1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4" name="Google Shape;974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2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" name="Google Shape;977;p12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78" name="Google Shape;978;p12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2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0" name="Google Shape;980;p1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1" name="Google Shape;981;p1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2" name="Google Shape;982;p1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2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" name="Google Shape;985;p12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86" name="Google Shape;986;p12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2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" name="Google Shape;988;p12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89" name="Google Shape;989;p1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3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" name="Google Shape;992;p13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993" name="Google Shape;993;p13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" name="Google Shape;995;p13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6" name="Google Shape;996;p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3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1" name="Google Shape;1001;p13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02" name="Google Shape;1002;p13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4" name="Google Shape;1004;p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3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" name="Google Shape;1007;p13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08" name="Google Shape;1008;p13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3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13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18" name="Google Shape;1018;p13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0" name="Google Shape;1020;p13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21" name="Google Shape;1021;p13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22" name="Google Shape;1022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3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13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26" name="Google Shape;1026;p13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8" name="Google Shape;1028;p13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29" name="Google Shape;1029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3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2" name="Google Shape;1032;p13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33" name="Google Shape;1033;p13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5" name="Google Shape;1035;p13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36" name="Google Shape;1036;p13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p13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38" name="Google Shape;1038;p13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39" name="Google Shape;1039;p13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0" name="Google Shape;1040;p13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41" name="Google Shape;1041;p13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42" name="Google Shape;1042;p13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3" name="Google Shape;1043;p13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44" name="Google Shape;1044;p13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45" name="Google Shape;1045;p13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6" name="Google Shape;1046;p13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47" name="Google Shape;1047;p13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48" name="Google Shape;1048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3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1" name="Google Shape;1051;p13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52" name="Google Shape;1052;p13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3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4" name="Google Shape;1054;p13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055" name="Google Shape;1055;p13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56" name="Google Shape;1056;p13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57" name="Google Shape;1057;p13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58" name="Google Shape;1058;p13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3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2" name="Google Shape;1062;p13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63" name="Google Shape;1063;p13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3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13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066" name="Google Shape;1066;p13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67" name="Google Shape;1067;p13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68" name="Google Shape;1068;p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4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1" name="Google Shape;1071;p14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72" name="Google Shape;1072;p14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4" name="Google Shape;1074;p14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75" name="Google Shape;1075;p1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4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14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79" name="Google Shape;1079;p14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1" name="Google Shape;1081;p14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82" name="Google Shape;1082;p1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4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5" name="Google Shape;1085;p14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86" name="Google Shape;1086;p14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4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14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089" name="Google Shape;1089;p14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090" name="Google Shape;1090;p14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1091" name="Google Shape;1091;p14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092" name="Google Shape;1092;p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4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5" name="Google Shape;1095;p14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096" name="Google Shape;1096;p14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8" name="Google Shape;1098;p14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99" name="Google Shape;1099;p14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0" name="Google Shape;1100;p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4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3" name="Google Shape;1103;p14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04" name="Google Shape;1104;p14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6" name="Google Shape;1106;p14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07" name="Google Shape;1107;p14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8" name="Google Shape;1108;p14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9" name="Google Shape;1109;p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4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2" name="Google Shape;1112;p14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13" name="Google Shape;1113;p14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5" name="Google Shape;1115;p14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16" name="Google Shape;1116;p1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7" name="Google Shape;1117;p1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8" name="Google Shape;1118;p1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4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1" name="Google Shape;1121;p14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22" name="Google Shape;1122;p14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1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5" name="Google Shape;1125;p1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6" name="Google Shape;1126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4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9" name="Google Shape;1129;p14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30" name="Google Shape;1130;p14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2" name="Google Shape;1132;p1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3" name="Google Shape;1133;p1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4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6" name="Google Shape;1136;p14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37" name="Google Shape;1137;p14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1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0" name="Google Shape;1140;p1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1" name="Google Shape;1141;p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4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4" name="Google Shape;1144;p14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45" name="Google Shape;1145;p14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14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48" name="Google Shape;1148;p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5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1" name="Google Shape;1151;p15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52" name="Google Shape;1152;p15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5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15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5" name="Google Shape;1155;p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5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15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61" name="Google Shape;1161;p15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5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3" name="Google Shape;1163;p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5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6" name="Google Shape;1166;p15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67" name="Google Shape;1167;p15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5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9" name="Google Shape;1169;p1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5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6" name="Google Shape;1176;p15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77" name="Google Shape;1177;p15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15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80" name="Google Shape;1180;p15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81" name="Google Shape;1181;p1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5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4" name="Google Shape;1184;p15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85" name="Google Shape;1185;p15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7" name="Google Shape;1187;p15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88" name="Google Shape;1188;p1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5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1" name="Google Shape;1191;p15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192" name="Google Shape;1192;p15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4" name="Google Shape;1194;p15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95" name="Google Shape;1195;p15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15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97" name="Google Shape;1197;p15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98" name="Google Shape;1198;p15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9" name="Google Shape;1199;p15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00" name="Google Shape;1200;p15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01" name="Google Shape;1201;p15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2" name="Google Shape;1202;p15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03" name="Google Shape;1203;p15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04" name="Google Shape;1204;p15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5" name="Google Shape;1205;p15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06" name="Google Shape;1206;p15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07" name="Google Shape;1207;p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5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p15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11" name="Google Shape;1211;p15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15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214" name="Google Shape;1214;p15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215" name="Google Shape;1215;p15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16" name="Google Shape;1216;p15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17" name="Google Shape;1217;p15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5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1" name="Google Shape;1221;p15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22" name="Google Shape;1222;p15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4" name="Google Shape;1224;p15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225" name="Google Shape;1225;p15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226" name="Google Shape;1226;p15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27" name="Google Shape;1227;p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6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0" name="Google Shape;1230;p16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31" name="Google Shape;1231;p16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6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3" name="Google Shape;1233;p16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34" name="Google Shape;1234;p1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6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7" name="Google Shape;1237;p16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38" name="Google Shape;1238;p16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6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0" name="Google Shape;1240;p16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41" name="Google Shape;1241;p1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6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4" name="Google Shape;1244;p16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45" name="Google Shape;1245;p16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6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7" name="Google Shape;1247;p16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48" name="Google Shape;1248;p16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249" name="Google Shape;1249;p16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1250" name="Google Shape;1250;p16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251" name="Google Shape;1251;p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6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16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55" name="Google Shape;1255;p16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6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16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58" name="Google Shape;1258;p16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9" name="Google Shape;1259;p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6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p16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63" name="Google Shape;1263;p16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6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5" name="Google Shape;1265;p16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66" name="Google Shape;1266;p16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7" name="Google Shape;1267;p16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1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6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p16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72" name="Google Shape;1272;p16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6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4" name="Google Shape;1274;p16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75" name="Google Shape;1275;p1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6" name="Google Shape;1276;p1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7" name="Google Shape;1277;p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6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0" name="Google Shape;1280;p16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81" name="Google Shape;1281;p16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6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3" name="Google Shape;1283;p1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4" name="Google Shape;1284;p1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5" name="Google Shape;1285;p1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6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8" name="Google Shape;1288;p16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89" name="Google Shape;1289;p16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6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1" name="Google Shape;1291;p1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2" name="Google Shape;1292;p1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6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5" name="Google Shape;1295;p16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296" name="Google Shape;1296;p16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6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8" name="Google Shape;1298;p1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9" name="Google Shape;1299;p1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0" name="Google Shape;1300;p1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6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3" name="Google Shape;1303;p16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04" name="Google Shape;1304;p16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6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6" name="Google Shape;1306;p16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07" name="Google Shape;1307;p1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7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0" name="Google Shape;1310;p17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11" name="Google Shape;1311;p17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7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3" name="Google Shape;1313;p17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4" name="Google Shape;1314;p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7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9" name="Google Shape;1319;p17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0" name="Google Shape;1320;p17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7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1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7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5" name="Google Shape;1325;p17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26" name="Google Shape;1326;p17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7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8" name="Google Shape;1328;p1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7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5" name="Google Shape;1335;p17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36" name="Google Shape;1336;p17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7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8" name="Google Shape;1338;p17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339" name="Google Shape;1339;p17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340" name="Google Shape;1340;p1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7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3" name="Google Shape;1343;p17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44" name="Google Shape;1344;p17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7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6" name="Google Shape;1346;p17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47" name="Google Shape;1347;p1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7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0" name="Google Shape;1350;p17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51" name="Google Shape;1351;p17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7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3" name="Google Shape;1353;p17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54" name="Google Shape;1354;p17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17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56" name="Google Shape;1356;p17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57" name="Google Shape;1357;p17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17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59" name="Google Shape;1359;p17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60" name="Google Shape;1360;p17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1" name="Google Shape;1361;p17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62" name="Google Shape;1362;p17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63" name="Google Shape;1363;p17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7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65" name="Google Shape;1365;p17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66" name="Google Shape;1366;p1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7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p17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70" name="Google Shape;1370;p17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7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2" name="Google Shape;1372;p17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373" name="Google Shape;1373;p17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374" name="Google Shape;1374;p17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75" name="Google Shape;1375;p17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376" name="Google Shape;1376;p17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1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7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0" name="Google Shape;1380;p17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81" name="Google Shape;1381;p17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7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3" name="Google Shape;1383;p17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384" name="Google Shape;1384;p17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385" name="Google Shape;1385;p17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86" name="Google Shape;1386;p1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8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9" name="Google Shape;1389;p18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90" name="Google Shape;1390;p18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8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2" name="Google Shape;1392;p18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93" name="Google Shape;1393;p1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8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6" name="Google Shape;1396;p18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397" name="Google Shape;1397;p18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8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8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00" name="Google Shape;1400;p1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8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3" name="Google Shape;1403;p18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04" name="Google Shape;1404;p18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8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6" name="Google Shape;1406;p18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407" name="Google Shape;1407;p18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08" name="Google Shape;1408;p18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1409" name="Google Shape;1409;p18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410" name="Google Shape;1410;p1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8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3" name="Google Shape;1413;p18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14" name="Google Shape;1414;p18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8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18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17" name="Google Shape;1417;p18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8" name="Google Shape;1418;p1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8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1" name="Google Shape;1421;p18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22" name="Google Shape;1422;p18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8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4" name="Google Shape;1424;p18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25" name="Google Shape;1425;p18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6" name="Google Shape;1426;p18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7" name="Google Shape;1427;p1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8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0" name="Google Shape;1430;p18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31" name="Google Shape;1431;p18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8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3" name="Google Shape;1433;p18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34" name="Google Shape;1434;p1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5" name="Google Shape;1435;p1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6" name="Google Shape;1436;p1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8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9" name="Google Shape;1439;p18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40" name="Google Shape;1440;p18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8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2" name="Google Shape;1442;p18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3" name="Google Shape;1443;p18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44" name="Google Shape;1444;p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8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7" name="Google Shape;1447;p18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48" name="Google Shape;1448;p18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8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0" name="Google Shape;1450;p1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51" name="Google Shape;1451;p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18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55" name="Google Shape;1455;p18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8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7" name="Google Shape;1457;p18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58" name="Google Shape;1458;p18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9" name="Google Shape;1459;p1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8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2" name="Google Shape;1462;p18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63" name="Google Shape;1463;p18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8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5" name="Google Shape;1465;p18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66" name="Google Shape;1466;p1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9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9" name="Google Shape;1469;p19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70" name="Google Shape;1470;p19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9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2" name="Google Shape;1472;p19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73" name="Google Shape;1473;p1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9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8" name="Google Shape;1478;p19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79" name="Google Shape;1479;p19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9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1" name="Google Shape;1481;p1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9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4" name="Google Shape;1484;p19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85" name="Google Shape;1485;p19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9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7" name="Google Shape;1487;p1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9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4" name="Google Shape;1494;p19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495" name="Google Shape;1495;p19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9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7" name="Google Shape;1497;p195"/>
          <p:cNvSpPr txBox="1"/>
          <p:nvPr>
            <p:ph type="ctrTitle"/>
          </p:nvPr>
        </p:nvSpPr>
        <p:spPr>
          <a:xfrm>
            <a:off x="893575" y="1398250"/>
            <a:ext cx="5964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98" name="Google Shape;1498;p195"/>
          <p:cNvSpPr txBox="1"/>
          <p:nvPr>
            <p:ph idx="1" type="subTitle"/>
          </p:nvPr>
        </p:nvSpPr>
        <p:spPr>
          <a:xfrm>
            <a:off x="942975" y="3744172"/>
            <a:ext cx="37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499" name="Google Shape;1499;p1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_1_1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96"/>
          <p:cNvSpPr/>
          <p:nvPr/>
        </p:nvSpPr>
        <p:spPr>
          <a:xfrm>
            <a:off x="-1184975" y="-953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2" name="Google Shape;1502;p19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03" name="Google Shape;1503;p19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9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5" name="Google Shape;1505;p196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06" name="Google Shape;1506;p1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97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9" name="Google Shape;1509;p19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10" name="Google Shape;1510;p19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9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2" name="Google Shape;1512;p19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13" name="Google Shape;1513;p197"/>
          <p:cNvSpPr txBox="1"/>
          <p:nvPr>
            <p:ph idx="1" type="subTitle"/>
          </p:nvPr>
        </p:nvSpPr>
        <p:spPr>
          <a:xfrm>
            <a:off x="157305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4" name="Google Shape;1514;p197"/>
          <p:cNvSpPr txBox="1"/>
          <p:nvPr>
            <p:ph idx="2" type="subTitle"/>
          </p:nvPr>
        </p:nvSpPr>
        <p:spPr>
          <a:xfrm>
            <a:off x="157305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15" name="Google Shape;1515;p197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16" name="Google Shape;1516;p197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7" name="Google Shape;1517;p197"/>
          <p:cNvSpPr txBox="1"/>
          <p:nvPr>
            <p:ph idx="5" type="subTitle"/>
          </p:nvPr>
        </p:nvSpPr>
        <p:spPr>
          <a:xfrm>
            <a:off x="157305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18" name="Google Shape;1518;p197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19" name="Google Shape;1519;p197"/>
          <p:cNvSpPr txBox="1"/>
          <p:nvPr>
            <p:ph idx="7" type="subTitle"/>
          </p:nvPr>
        </p:nvSpPr>
        <p:spPr>
          <a:xfrm>
            <a:off x="5130200" y="1994848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0" name="Google Shape;1520;p197"/>
          <p:cNvSpPr txBox="1"/>
          <p:nvPr>
            <p:ph idx="8" type="subTitle"/>
          </p:nvPr>
        </p:nvSpPr>
        <p:spPr>
          <a:xfrm>
            <a:off x="5130200" y="1609025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21" name="Google Shape;1521;p197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22" name="Google Shape;1522;p197"/>
          <p:cNvSpPr txBox="1"/>
          <p:nvPr>
            <p:ph idx="13" type="subTitle"/>
          </p:nvPr>
        </p:nvSpPr>
        <p:spPr>
          <a:xfrm>
            <a:off x="513020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3" name="Google Shape;1523;p197"/>
          <p:cNvSpPr txBox="1"/>
          <p:nvPr>
            <p:ph idx="14" type="subTitle"/>
          </p:nvPr>
        </p:nvSpPr>
        <p:spPr>
          <a:xfrm>
            <a:off x="5130200" y="3079413"/>
            <a:ext cx="237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Questrial"/>
              <a:buNone/>
              <a:defRPr b="1" sz="2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24" name="Google Shape;1524;p197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25" name="Google Shape;1525;p1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98"/>
          <p:cNvSpPr/>
          <p:nvPr/>
        </p:nvSpPr>
        <p:spPr>
          <a:xfrm>
            <a:off x="-1372400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8" name="Google Shape;1528;p19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29" name="Google Shape;1529;p19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9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1" name="Google Shape;1531;p198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532" name="Google Shape;1532;p198"/>
          <p:cNvSpPr txBox="1"/>
          <p:nvPr>
            <p:ph idx="1" type="subTitle"/>
          </p:nvPr>
        </p:nvSpPr>
        <p:spPr>
          <a:xfrm>
            <a:off x="814575" y="3567538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533" name="Google Shape;1533;p198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34" name="Google Shape;1534;p198"/>
          <p:cNvSpPr txBox="1"/>
          <p:nvPr/>
        </p:nvSpPr>
        <p:spPr>
          <a:xfrm>
            <a:off x="80054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" sz="4000" u="none" cap="none" strike="noStrike">
                <a:solidFill>
                  <a:schemeClr val="accent4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endParaRPr b="1" i="0" sz="4000" u="none" cap="none" strike="noStrike">
              <a:solidFill>
                <a:schemeClr val="accent4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35" name="Google Shape;1535;p198"/>
          <p:cNvSpPr/>
          <p:nvPr/>
        </p:nvSpPr>
        <p:spPr>
          <a:xfrm rot="5400000">
            <a:off x="6070500" y="2067750"/>
            <a:ext cx="4600200" cy="1005900"/>
          </a:xfrm>
          <a:prstGeom prst="round2SameRect">
            <a:avLst>
              <a:gd fmla="val 26066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99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9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40" name="Google Shape;1540;p19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9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2" name="Google Shape;1542;p199"/>
          <p:cNvSpPr txBox="1"/>
          <p:nvPr>
            <p:ph type="title"/>
          </p:nvPr>
        </p:nvSpPr>
        <p:spPr>
          <a:xfrm>
            <a:off x="1767350" y="2103750"/>
            <a:ext cx="56604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1543" name="Google Shape;1543;p199"/>
          <p:cNvSpPr txBox="1"/>
          <p:nvPr>
            <p:ph idx="1" type="subTitle"/>
          </p:nvPr>
        </p:nvSpPr>
        <p:spPr>
          <a:xfrm>
            <a:off x="1767350" y="3067713"/>
            <a:ext cx="351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544" name="Google Shape;1544;p19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45" name="Google Shape;1545;p1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_1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200"/>
          <p:cNvSpPr/>
          <p:nvPr/>
        </p:nvSpPr>
        <p:spPr>
          <a:xfrm>
            <a:off x="-1416525" y="249852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8" name="Google Shape;1548;p20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49" name="Google Shape;1549;p20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20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1" name="Google Shape;1551;p20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52" name="Google Shape;1552;p2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"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201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5" name="Google Shape;1555;p201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56" name="Google Shape;1556;p201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01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8" name="Google Shape;1558;p20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59" name="Google Shape;1559;p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02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2" name="Google Shape;1562;p20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63" name="Google Shape;1563;p20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20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5" name="Google Shape;1565;p202"/>
          <p:cNvSpPr txBox="1"/>
          <p:nvPr>
            <p:ph type="title"/>
          </p:nvPr>
        </p:nvSpPr>
        <p:spPr>
          <a:xfrm>
            <a:off x="893575" y="962425"/>
            <a:ext cx="3885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66" name="Google Shape;1566;p202"/>
          <p:cNvSpPr txBox="1"/>
          <p:nvPr/>
        </p:nvSpPr>
        <p:spPr>
          <a:xfrm>
            <a:off x="893575" y="3581182"/>
            <a:ext cx="3885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Crédits : Ce modèle de présentation a été créé par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comprenant des icônes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fr" sz="13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des infographies et des images de </a:t>
            </a:r>
            <a:r>
              <a:rPr b="1" i="0" lang="fr" sz="1300" u="none" cap="none" strike="noStrike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3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67" name="Google Shape;1567;p202"/>
          <p:cNvSpPr txBox="1"/>
          <p:nvPr>
            <p:ph idx="1" type="subTitle"/>
          </p:nvPr>
        </p:nvSpPr>
        <p:spPr>
          <a:xfrm>
            <a:off x="893575" y="2632725"/>
            <a:ext cx="38856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b="1" sz="1850"/>
            </a:lvl9pPr>
          </a:lstStyle>
          <a:p/>
        </p:txBody>
      </p:sp>
      <p:sp>
        <p:nvSpPr>
          <p:cNvPr id="1568" name="Google Shape;1568;p202"/>
          <p:cNvSpPr txBox="1"/>
          <p:nvPr>
            <p:ph idx="2" type="subTitle"/>
          </p:nvPr>
        </p:nvSpPr>
        <p:spPr>
          <a:xfrm>
            <a:off x="893575" y="4276150"/>
            <a:ext cx="3885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1569" name="Google Shape;1569;p2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_1"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203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2" name="Google Shape;1572;p20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73" name="Google Shape;1573;p20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20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5" name="Google Shape;1575;p203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76" name="Google Shape;1576;p203"/>
          <p:cNvSpPr txBox="1"/>
          <p:nvPr>
            <p:ph idx="1" type="body"/>
          </p:nvPr>
        </p:nvSpPr>
        <p:spPr>
          <a:xfrm>
            <a:off x="612925" y="1265125"/>
            <a:ext cx="68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77" name="Google Shape;1577;p2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204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0" name="Google Shape;1580;p204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81" name="Google Shape;1581;p204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04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3" name="Google Shape;1583;p20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84" name="Google Shape;1584;p204"/>
          <p:cNvSpPr txBox="1"/>
          <p:nvPr>
            <p:ph idx="1" type="body"/>
          </p:nvPr>
        </p:nvSpPr>
        <p:spPr>
          <a:xfrm>
            <a:off x="612925" y="1838100"/>
            <a:ext cx="5284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5" name="Google Shape;1585;p204"/>
          <p:cNvSpPr txBox="1"/>
          <p:nvPr>
            <p:ph idx="2" type="subTitle"/>
          </p:nvPr>
        </p:nvSpPr>
        <p:spPr>
          <a:xfrm>
            <a:off x="612950" y="1265125"/>
            <a:ext cx="52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6" name="Google Shape;1586;p2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205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9" name="Google Shape;1589;p205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0" name="Google Shape;1590;p205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05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2" name="Google Shape;1592;p20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93" name="Google Shape;1593;p2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4" name="Google Shape;1594;p2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5" name="Google Shape;1595;p2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06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8" name="Google Shape;1598;p206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599" name="Google Shape;1599;p206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206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1" name="Google Shape;1601;p20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2" name="Google Shape;1602;p20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3" name="Google Shape;1603;p2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07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6" name="Google Shape;1606;p207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07" name="Google Shape;1607;p207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207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9" name="Google Shape;1609;p20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10" name="Google Shape;1610;p2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208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3" name="Google Shape;1613;p208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14" name="Google Shape;1614;p208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08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6" name="Google Shape;1616;p2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17" name="Google Shape;1617;p2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8" name="Google Shape;1618;p2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209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1" name="Google Shape;1621;p209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22" name="Google Shape;1622;p209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09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4" name="Google Shape;1624;p209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25" name="Google Shape;1625;p2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10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8" name="Google Shape;1628;p210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29" name="Google Shape;1629;p210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10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1" name="Google Shape;1631;p210"/>
          <p:cNvSpPr txBox="1"/>
          <p:nvPr>
            <p:ph hasCustomPrompt="1" type="title"/>
          </p:nvPr>
        </p:nvSpPr>
        <p:spPr>
          <a:xfrm>
            <a:off x="709150" y="1106125"/>
            <a:ext cx="6562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2" name="Google Shape;1632;p2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12"/>
          <p:cNvSpPr/>
          <p:nvPr/>
        </p:nvSpPr>
        <p:spPr>
          <a:xfrm>
            <a:off x="6332925" y="-1118875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7" name="Google Shape;1637;p212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38" name="Google Shape;1638;p212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12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0" name="Google Shape;1640;p2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13"/>
          <p:cNvSpPr/>
          <p:nvPr/>
        </p:nvSpPr>
        <p:spPr>
          <a:xfrm>
            <a:off x="6332925" y="2174500"/>
            <a:ext cx="4260600" cy="4260600"/>
          </a:xfrm>
          <a:prstGeom prst="ellipse">
            <a:avLst/>
          </a:prstGeom>
          <a:gradFill>
            <a:gsLst>
              <a:gs pos="0">
                <a:srgbClr val="A264E3">
                  <a:alpha val="49019"/>
                </a:srgbClr>
              </a:gs>
              <a:gs pos="62000">
                <a:srgbClr val="E7E9F6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3" name="Google Shape;1643;p213"/>
          <p:cNvGrpSpPr/>
          <p:nvPr/>
        </p:nvGrpSpPr>
        <p:grpSpPr>
          <a:xfrm>
            <a:off x="270450" y="270600"/>
            <a:ext cx="8603100" cy="4600800"/>
            <a:chOff x="270450" y="270600"/>
            <a:chExt cx="8603100" cy="4600800"/>
          </a:xfrm>
        </p:grpSpPr>
        <p:sp>
          <p:nvSpPr>
            <p:cNvPr id="1644" name="Google Shape;1644;p213"/>
            <p:cNvSpPr/>
            <p:nvPr/>
          </p:nvSpPr>
          <p:spPr>
            <a:xfrm>
              <a:off x="270450" y="270600"/>
              <a:ext cx="8603100" cy="4600800"/>
            </a:xfrm>
            <a:prstGeom prst="roundRect">
              <a:avLst>
                <a:gd fmla="val 5731" name="adj"/>
              </a:avLst>
            </a:prstGeom>
            <a:solidFill>
              <a:schemeClr val="accent4"/>
            </a:solidFill>
            <a:ln>
              <a:noFill/>
            </a:ln>
            <a:effectLst>
              <a:outerShdw blurRad="214313" rotWithShape="0" algn="bl" dir="8220000" dist="152400">
                <a:schemeClr val="accent3">
                  <a:alpha val="4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13"/>
            <p:cNvSpPr/>
            <p:nvPr/>
          </p:nvSpPr>
          <p:spPr>
            <a:xfrm rot="5400000">
              <a:off x="6070500" y="2067750"/>
              <a:ext cx="4600200" cy="1005900"/>
            </a:xfrm>
            <a:prstGeom prst="round2SameRect">
              <a:avLst>
                <a:gd fmla="val 26066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6" name="Google Shape;1646;p2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31.xml"/><Relationship Id="rId6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9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6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theme" Target="../theme/theme4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9.xml"/><Relationship Id="rId6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theme" Target="../theme/theme11.xml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8.xml"/><Relationship Id="rId6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7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theme" Target="../theme/theme1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theme" Target="../theme/theme7.xml"/><Relationship Id="rId11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4.xml"/><Relationship Id="rId1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theme" Target="../theme/theme5.xml"/><Relationship Id="rId11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1.xml"/><Relationship Id="rId14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1.xml"/><Relationship Id="rId19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59.xml"/><Relationship Id="rId17" Type="http://schemas.openxmlformats.org/officeDocument/2006/relationships/slideLayout" Target="../slideLayouts/slideLayout162.xml"/><Relationship Id="rId16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51.xml"/><Relationship Id="rId18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3.xml"/></Relationships>
</file>

<file path=ppt/slideMasters/_rels/slideMaster10.xml.rels><?xml version="1.0" encoding="UTF-8" standalone="yes"?><Relationships xmlns="http://schemas.openxmlformats.org/package/2006/relationships"><Relationship Id="rId20" Type="http://schemas.openxmlformats.org/officeDocument/2006/relationships/theme" Target="../theme/theme12.xml"/><Relationship Id="rId11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81.xml"/><Relationship Id="rId16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69.xml"/><Relationship Id="rId19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70.xml"/><Relationship Id="rId18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2.xml"/></Relationships>
</file>

<file path=ppt/slideMasters/_rels/slideMaster11.xml.rels><?xml version="1.0" encoding="UTF-8" standalone="yes"?><Relationships xmlns="http://schemas.openxmlformats.org/package/2006/relationships"><Relationship Id="rId20" Type="http://schemas.openxmlformats.org/officeDocument/2006/relationships/theme" Target="../theme/theme8.xml"/><Relationship Id="rId11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88.xml"/><Relationship Id="rId19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189.xml"/><Relationship Id="rId18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77" name="Google Shape;377;p5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36" name="Google Shape;536;p7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537" name="Google Shape;537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95" name="Google Shape;695;p9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696" name="Google Shape;696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54" name="Google Shape;854;p11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55" name="Google Shape;855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3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13" name="Google Shape;1013;p13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014" name="Google Shape;1014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72" name="Google Shape;1172;p15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173" name="Google Shape;1173;p1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7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31" name="Google Shape;1331;p17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332" name="Google Shape;1332;p1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94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i="0" sz="3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90" name="Google Shape;1490;p194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491" name="Google Shape;1491;p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slide" Target="/ppt/slides/slide5.xml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slide" Target="/ppt/slides/slide6.xml"/><Relationship Id="rId5" Type="http://schemas.openxmlformats.org/officeDocument/2006/relationships/slide" Target="/ppt/slides/slide6.xml"/><Relationship Id="rId6" Type="http://schemas.openxmlformats.org/officeDocument/2006/relationships/slide" Target="/ppt/slides/slide6.xml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slide" Target="/ppt/slides/slide7.xml"/><Relationship Id="rId5" Type="http://schemas.openxmlformats.org/officeDocument/2006/relationships/slide" Target="/ppt/slides/slide7.xml"/><Relationship Id="rId6" Type="http://schemas.openxmlformats.org/officeDocument/2006/relationships/slide" Target="/ppt/slides/slide7.xml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slide" Target="/ppt/slides/slide8.xml"/><Relationship Id="rId9" Type="http://schemas.openxmlformats.org/officeDocument/2006/relationships/image" Target="../media/image3.png"/><Relationship Id="rId5" Type="http://schemas.openxmlformats.org/officeDocument/2006/relationships/slide" Target="/ppt/slides/slide8.xml"/><Relationship Id="rId6" Type="http://schemas.openxmlformats.org/officeDocument/2006/relationships/slide" Target="/ppt/slides/slide8.xml"/><Relationship Id="rId7" Type="http://schemas.openxmlformats.org/officeDocument/2006/relationships/slide" Target="/ppt/slides/slide8.xml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slide" Target="/ppt/slides/slide9.xml"/><Relationship Id="rId9" Type="http://schemas.openxmlformats.org/officeDocument/2006/relationships/image" Target="../media/image8.png"/><Relationship Id="rId5" Type="http://schemas.openxmlformats.org/officeDocument/2006/relationships/slide" Target="/ppt/slides/slide9.xml"/><Relationship Id="rId6" Type="http://schemas.openxmlformats.org/officeDocument/2006/relationships/slide" Target="/ppt/slides/slide9.xml"/><Relationship Id="rId7" Type="http://schemas.openxmlformats.org/officeDocument/2006/relationships/slide" Target="/ppt/slides/slide9.xml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0.xml"/><Relationship Id="rId4" Type="http://schemas.openxmlformats.org/officeDocument/2006/relationships/slide" Target="/ppt/slides/slide10.xml"/><Relationship Id="rId9" Type="http://schemas.openxmlformats.org/officeDocument/2006/relationships/image" Target="../media/image6.png"/><Relationship Id="rId5" Type="http://schemas.openxmlformats.org/officeDocument/2006/relationships/slide" Target="/ppt/slides/slide10.xml"/><Relationship Id="rId6" Type="http://schemas.openxmlformats.org/officeDocument/2006/relationships/slide" Target="/ppt/slides/slide10.xml"/><Relationship Id="rId7" Type="http://schemas.openxmlformats.org/officeDocument/2006/relationships/slide" Target="/ppt/slides/slide10.xml"/><Relationship Id="rId8" Type="http://schemas.openxmlformats.org/officeDocument/2006/relationships/slide" Target="/ppt/slides/slide10.xml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1.xml"/><Relationship Id="rId4" Type="http://schemas.openxmlformats.org/officeDocument/2006/relationships/slide" Target="/ppt/slides/slide11.xml"/><Relationship Id="rId9" Type="http://schemas.openxmlformats.org/officeDocument/2006/relationships/image" Target="../media/image6.png"/><Relationship Id="rId5" Type="http://schemas.openxmlformats.org/officeDocument/2006/relationships/slide" Target="/ppt/slides/slide11.xml"/><Relationship Id="rId6" Type="http://schemas.openxmlformats.org/officeDocument/2006/relationships/slide" Target="/ppt/slides/slide11.xml"/><Relationship Id="rId7" Type="http://schemas.openxmlformats.org/officeDocument/2006/relationships/slide" Target="/ppt/slides/slide11.xml"/><Relationship Id="rId8" Type="http://schemas.openxmlformats.org/officeDocument/2006/relationships/slide" Target="/ppt/slides/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2.xml"/><Relationship Id="rId4" Type="http://schemas.openxmlformats.org/officeDocument/2006/relationships/slide" Target="/ppt/slides/slide12.xml"/><Relationship Id="rId9" Type="http://schemas.openxmlformats.org/officeDocument/2006/relationships/image" Target="../media/image6.png"/><Relationship Id="rId5" Type="http://schemas.openxmlformats.org/officeDocument/2006/relationships/slide" Target="/ppt/slides/slide12.xml"/><Relationship Id="rId6" Type="http://schemas.openxmlformats.org/officeDocument/2006/relationships/slide" Target="/ppt/slides/slide12.xml"/><Relationship Id="rId7" Type="http://schemas.openxmlformats.org/officeDocument/2006/relationships/slide" Target="/ppt/slides/slide12.xml"/><Relationship Id="rId8" Type="http://schemas.openxmlformats.org/officeDocument/2006/relationships/slide" Target="/ppt/slides/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9.png"/><Relationship Id="rId13" Type="http://schemas.openxmlformats.org/officeDocument/2006/relationships/image" Target="../media/image14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slide" Target="/ppt/slides/slide13.xml"/><Relationship Id="rId9" Type="http://schemas.openxmlformats.org/officeDocument/2006/relationships/image" Target="../media/image6.png"/><Relationship Id="rId5" Type="http://schemas.openxmlformats.org/officeDocument/2006/relationships/slide" Target="/ppt/slides/slide13.xml"/><Relationship Id="rId6" Type="http://schemas.openxmlformats.org/officeDocument/2006/relationships/slide" Target="/ppt/slides/slide13.xml"/><Relationship Id="rId7" Type="http://schemas.openxmlformats.org/officeDocument/2006/relationships/slide" Target="/ppt/slides/slide13.xml"/><Relationship Id="rId8" Type="http://schemas.openxmlformats.org/officeDocument/2006/relationships/slide" Target="/ppt/slides/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7.png"/><Relationship Id="rId13" Type="http://schemas.openxmlformats.org/officeDocument/2006/relationships/image" Target="../media/image13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9" Type="http://schemas.openxmlformats.org/officeDocument/2006/relationships/image" Target="../media/image6.png"/><Relationship Id="rId5" Type="http://schemas.openxmlformats.org/officeDocument/2006/relationships/slide" Target="/ppt/slides/slide14.xml"/><Relationship Id="rId6" Type="http://schemas.openxmlformats.org/officeDocument/2006/relationships/slide" Target="/ppt/slides/slide14.xml"/><Relationship Id="rId7" Type="http://schemas.openxmlformats.org/officeDocument/2006/relationships/slide" Target="/ppt/slides/slide14.xml"/><Relationship Id="rId8" Type="http://schemas.openxmlformats.org/officeDocument/2006/relationships/slide" Target="/ppt/slides/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slide" Target="/ppt/slides/slide15.xml"/><Relationship Id="rId9" Type="http://schemas.openxmlformats.org/officeDocument/2006/relationships/slide" Target="/ppt/slides/slide11.xml"/><Relationship Id="rId5" Type="http://schemas.openxmlformats.org/officeDocument/2006/relationships/slide" Target="/ppt/slides/slide15.xml"/><Relationship Id="rId6" Type="http://schemas.openxmlformats.org/officeDocument/2006/relationships/slide" Target="/ppt/slides/slide15.xml"/><Relationship Id="rId7" Type="http://schemas.openxmlformats.org/officeDocument/2006/relationships/slide" Target="/ppt/slides/slide15.xml"/><Relationship Id="rId8" Type="http://schemas.openxmlformats.org/officeDocument/2006/relationships/slide" Target="/ppt/slides/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slide" Target="/ppt/slides/slide16.xml"/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6.xml"/><Relationship Id="rId4" Type="http://schemas.openxmlformats.org/officeDocument/2006/relationships/slide" Target="/ppt/slides/slide16.xml"/><Relationship Id="rId9" Type="http://schemas.openxmlformats.org/officeDocument/2006/relationships/slide" Target="/ppt/slides/slide16.xml"/><Relationship Id="rId5" Type="http://schemas.openxmlformats.org/officeDocument/2006/relationships/slide" Target="/ppt/slides/slide16.xml"/><Relationship Id="rId6" Type="http://schemas.openxmlformats.org/officeDocument/2006/relationships/slide" Target="/ppt/slides/slide16.xml"/><Relationship Id="rId7" Type="http://schemas.openxmlformats.org/officeDocument/2006/relationships/slide" Target="/ppt/slides/slide16.xml"/><Relationship Id="rId8" Type="http://schemas.openxmlformats.org/officeDocument/2006/relationships/slide" Target="/ppt/slides/slide16.xm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7.xml"/><Relationship Id="rId10" Type="http://schemas.openxmlformats.org/officeDocument/2006/relationships/slide" Target="/ppt/slides/slide17.xml"/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slide" Target="/ppt/slides/slide17.xml"/><Relationship Id="rId5" Type="http://schemas.openxmlformats.org/officeDocument/2006/relationships/image" Target="../media/image23.png"/><Relationship Id="rId6" Type="http://schemas.openxmlformats.org/officeDocument/2006/relationships/slide" Target="/ppt/slides/slide17.xml"/><Relationship Id="rId7" Type="http://schemas.openxmlformats.org/officeDocument/2006/relationships/slide" Target="/ppt/slides/slide17.xml"/><Relationship Id="rId8" Type="http://schemas.openxmlformats.org/officeDocument/2006/relationships/slide" Target="/ppt/slides/slide17.xml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slide" Target="/ppt/slides/slide18.xml"/><Relationship Id="rId9" Type="http://schemas.openxmlformats.org/officeDocument/2006/relationships/slide" Target="/ppt/slides/slide1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18.xml"/><Relationship Id="rId8" Type="http://schemas.openxmlformats.org/officeDocument/2006/relationships/slide" Target="/ppt/slides/slide18.xml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9.xml"/><Relationship Id="rId4" Type="http://schemas.openxmlformats.org/officeDocument/2006/relationships/slide" Target="/ppt/slides/slide19.xml"/><Relationship Id="rId9" Type="http://schemas.openxmlformats.org/officeDocument/2006/relationships/image" Target="../media/image6.png"/><Relationship Id="rId5" Type="http://schemas.openxmlformats.org/officeDocument/2006/relationships/slide" Target="/ppt/slides/slide19.xml"/><Relationship Id="rId6" Type="http://schemas.openxmlformats.org/officeDocument/2006/relationships/slide" Target="/ppt/slides/slide19.xml"/><Relationship Id="rId7" Type="http://schemas.openxmlformats.org/officeDocument/2006/relationships/slide" Target="/ppt/slides/slide19.xml"/><Relationship Id="rId8" Type="http://schemas.openxmlformats.org/officeDocument/2006/relationships/slide" Target="/ppt/slides/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214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214"/>
          <p:cNvSpPr txBox="1"/>
          <p:nvPr>
            <p:ph type="title"/>
          </p:nvPr>
        </p:nvSpPr>
        <p:spPr>
          <a:xfrm>
            <a:off x="492950" y="440425"/>
            <a:ext cx="85758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 sz="3400"/>
              <a:t>Interpretability, stability and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 sz="3400"/>
              <a:t> algorithmic fairness</a:t>
            </a:r>
            <a:endParaRPr sz="3400"/>
          </a:p>
        </p:txBody>
      </p:sp>
      <p:sp>
        <p:nvSpPr>
          <p:cNvPr id="1653" name="Google Shape;1653;p214">
            <a:hlinkClick action="ppaction://hlinksldjump" r:id="rId3"/>
          </p:cNvPr>
          <p:cNvSpPr txBox="1"/>
          <p:nvPr/>
        </p:nvSpPr>
        <p:spPr>
          <a:xfrm>
            <a:off x="8004450" y="1915010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4" name="Google Shape;1654;p214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5" name="Google Shape;1655;p214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6" name="Google Shape;1656;p214">
            <a:hlinkClick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7" name="Google Shape;1657;p214"/>
          <p:cNvSpPr txBox="1"/>
          <p:nvPr/>
        </p:nvSpPr>
        <p:spPr>
          <a:xfrm>
            <a:off x="1269402" y="1393760"/>
            <a:ext cx="1911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8" name="Google Shape;1658;p214"/>
          <p:cNvSpPr txBox="1"/>
          <p:nvPr/>
        </p:nvSpPr>
        <p:spPr>
          <a:xfrm>
            <a:off x="1269402" y="3204259"/>
            <a:ext cx="1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9" name="Google Shape;1659;p214"/>
          <p:cNvSpPr txBox="1"/>
          <p:nvPr/>
        </p:nvSpPr>
        <p:spPr>
          <a:xfrm>
            <a:off x="2298038" y="3278787"/>
            <a:ext cx="4965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0" name="Google Shape;1660;p214"/>
          <p:cNvSpPr txBox="1"/>
          <p:nvPr/>
        </p:nvSpPr>
        <p:spPr>
          <a:xfrm>
            <a:off x="1755749" y="1730660"/>
            <a:ext cx="4965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1" name="Google Shape;1661;p214"/>
          <p:cNvSpPr txBox="1"/>
          <p:nvPr/>
        </p:nvSpPr>
        <p:spPr>
          <a:xfrm>
            <a:off x="1759536" y="4100171"/>
            <a:ext cx="474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62" name="Google Shape;1662;p214"/>
          <p:cNvSpPr txBox="1"/>
          <p:nvPr/>
        </p:nvSpPr>
        <p:spPr>
          <a:xfrm>
            <a:off x="2320420" y="4168401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214"/>
          <p:cNvSpPr txBox="1"/>
          <p:nvPr/>
        </p:nvSpPr>
        <p:spPr>
          <a:xfrm>
            <a:off x="2313961" y="4575253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2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65" name="Google Shape;1665;p214"/>
          <p:cNvSpPr txBox="1"/>
          <p:nvPr/>
        </p:nvSpPr>
        <p:spPr>
          <a:xfrm flipH="1">
            <a:off x="8004463" y="1569700"/>
            <a:ext cx="73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/>
          </a:p>
        </p:txBody>
      </p:sp>
      <p:sp>
        <p:nvSpPr>
          <p:cNvPr id="1666" name="Google Shape;1666;p214"/>
          <p:cNvSpPr txBox="1"/>
          <p:nvPr/>
        </p:nvSpPr>
        <p:spPr>
          <a:xfrm>
            <a:off x="366550" y="3161575"/>
            <a:ext cx="37167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Presented by :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Salerno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Marco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Jamai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Mamoun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Lafarguette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Pierre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Digua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Mehdi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Kire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Cédric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-"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Sijelmassi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Iliass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667" name="Google Shape;1667;p214" title="HEC_Paris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3125" y="1667550"/>
            <a:ext cx="3827001" cy="15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215"/>
          <p:cNvSpPr/>
          <p:nvPr/>
        </p:nvSpPr>
        <p:spPr>
          <a:xfrm>
            <a:off x="713225" y="1663825"/>
            <a:ext cx="732300" cy="73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215"/>
          <p:cNvSpPr/>
          <p:nvPr/>
        </p:nvSpPr>
        <p:spPr>
          <a:xfrm>
            <a:off x="713225" y="3131763"/>
            <a:ext cx="732300" cy="73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215"/>
          <p:cNvSpPr/>
          <p:nvPr/>
        </p:nvSpPr>
        <p:spPr>
          <a:xfrm>
            <a:off x="4270375" y="1663825"/>
            <a:ext cx="732300" cy="73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215"/>
          <p:cNvSpPr/>
          <p:nvPr/>
        </p:nvSpPr>
        <p:spPr>
          <a:xfrm>
            <a:off x="4270375" y="3131763"/>
            <a:ext cx="732300" cy="73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215"/>
          <p:cNvSpPr/>
          <p:nvPr/>
        </p:nvSpPr>
        <p:spPr>
          <a:xfrm flipH="1">
            <a:off x="7264896" y="4157425"/>
            <a:ext cx="336704" cy="336704"/>
          </a:xfrm>
          <a:custGeom>
            <a:rect b="b" l="l" r="r" t="t"/>
            <a:pathLst>
              <a:path extrusionOk="0" h="18587" w="18587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215"/>
          <p:cNvSpPr/>
          <p:nvPr/>
        </p:nvSpPr>
        <p:spPr>
          <a:xfrm>
            <a:off x="8138263" y="651619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215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Summary</a:t>
            </a:r>
            <a:endParaRPr/>
          </a:p>
        </p:txBody>
      </p:sp>
      <p:sp>
        <p:nvSpPr>
          <p:cNvPr id="1679" name="Google Shape;1679;p215"/>
          <p:cNvSpPr txBox="1"/>
          <p:nvPr>
            <p:ph idx="1" type="subTitle"/>
          </p:nvPr>
        </p:nvSpPr>
        <p:spPr>
          <a:xfrm>
            <a:off x="1669650" y="2044675"/>
            <a:ext cx="2376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Dataset and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Surrogate modeling</a:t>
            </a:r>
            <a:endParaRPr/>
          </a:p>
        </p:txBody>
      </p:sp>
      <p:sp>
        <p:nvSpPr>
          <p:cNvPr id="1680" name="Google Shape;1680;p215"/>
          <p:cNvSpPr txBox="1"/>
          <p:nvPr>
            <p:ph idx="2" type="subTitle"/>
          </p:nvPr>
        </p:nvSpPr>
        <p:spPr>
          <a:xfrm>
            <a:off x="1573050" y="1609025"/>
            <a:ext cx="282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/>
              <a:t>Initial Analysis </a:t>
            </a:r>
            <a:endParaRPr/>
          </a:p>
        </p:txBody>
      </p:sp>
      <p:sp>
        <p:nvSpPr>
          <p:cNvPr id="1681" name="Google Shape;1681;p215"/>
          <p:cNvSpPr txBox="1"/>
          <p:nvPr>
            <p:ph idx="3" type="title"/>
          </p:nvPr>
        </p:nvSpPr>
        <p:spPr>
          <a:xfrm>
            <a:off x="71322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2" name="Google Shape;1682;p215"/>
          <p:cNvSpPr txBox="1"/>
          <p:nvPr>
            <p:ph idx="4" type="subTitle"/>
          </p:nvPr>
        </p:nvSpPr>
        <p:spPr>
          <a:xfrm>
            <a:off x="1573050" y="3465235"/>
            <a:ext cx="2376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Data preparation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LGBM Model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Performance and stability </a:t>
            </a:r>
            <a:endParaRPr/>
          </a:p>
        </p:txBody>
      </p:sp>
      <p:sp>
        <p:nvSpPr>
          <p:cNvPr id="1683" name="Google Shape;1683;p215"/>
          <p:cNvSpPr txBox="1"/>
          <p:nvPr>
            <p:ph idx="5" type="subTitle"/>
          </p:nvPr>
        </p:nvSpPr>
        <p:spPr>
          <a:xfrm>
            <a:off x="1573050" y="3079425"/>
            <a:ext cx="2761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/>
              <a:t>Development</a:t>
            </a:r>
            <a:r>
              <a:rPr lang="fr"/>
              <a:t> of a proposed model</a:t>
            </a:r>
            <a:endParaRPr/>
          </a:p>
        </p:txBody>
      </p:sp>
      <p:sp>
        <p:nvSpPr>
          <p:cNvPr id="1684" name="Google Shape;1684;p215"/>
          <p:cNvSpPr txBox="1"/>
          <p:nvPr>
            <p:ph idx="6" type="title"/>
          </p:nvPr>
        </p:nvSpPr>
        <p:spPr>
          <a:xfrm>
            <a:off x="71322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5" name="Google Shape;1685;p215"/>
          <p:cNvSpPr txBox="1"/>
          <p:nvPr>
            <p:ph idx="8" type="subTitle"/>
          </p:nvPr>
        </p:nvSpPr>
        <p:spPr>
          <a:xfrm>
            <a:off x="5002675" y="3131775"/>
            <a:ext cx="2712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/>
              <a:t>Fairness and conclusion</a:t>
            </a:r>
            <a:endParaRPr/>
          </a:p>
        </p:txBody>
      </p:sp>
      <p:sp>
        <p:nvSpPr>
          <p:cNvPr id="1686" name="Google Shape;1686;p215"/>
          <p:cNvSpPr txBox="1"/>
          <p:nvPr>
            <p:ph idx="9" type="title"/>
          </p:nvPr>
        </p:nvSpPr>
        <p:spPr>
          <a:xfrm>
            <a:off x="4270375" y="1814425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7" name="Google Shape;1687;p215"/>
          <p:cNvSpPr txBox="1"/>
          <p:nvPr>
            <p:ph idx="14" type="subTitle"/>
          </p:nvPr>
        </p:nvSpPr>
        <p:spPr>
          <a:xfrm>
            <a:off x="5092963" y="1609025"/>
            <a:ext cx="282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/>
              <a:t>Interpretability</a:t>
            </a:r>
            <a:r>
              <a:rPr lang="fr"/>
              <a:t> </a:t>
            </a:r>
            <a:endParaRPr/>
          </a:p>
        </p:txBody>
      </p:sp>
      <p:sp>
        <p:nvSpPr>
          <p:cNvPr id="1688" name="Google Shape;1688;p215"/>
          <p:cNvSpPr txBox="1"/>
          <p:nvPr>
            <p:ph idx="15" type="title"/>
          </p:nvPr>
        </p:nvSpPr>
        <p:spPr>
          <a:xfrm>
            <a:off x="4270375" y="3284813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">
                <a:solidFill>
                  <a:schemeClr val="accent4"/>
                </a:solidFill>
              </a:rPr>
              <a:t>04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9" name="Google Shape;1689;p215">
            <a:hlinkClick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0" name="Google Shape;1690;p215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1" name="Google Shape;1691;p215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2" name="Google Shape;1692;p215">
            <a:hlinkClick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3" name="Google Shape;1693;p2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94" name="Google Shape;1694;p215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215"/>
          <p:cNvSpPr txBox="1"/>
          <p:nvPr/>
        </p:nvSpPr>
        <p:spPr>
          <a:xfrm>
            <a:off x="5138275" y="19336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Global interpretability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Local interpretability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Performance / 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Predictions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drivers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696" name="Google Shape;1696;p215"/>
          <p:cNvSpPr txBox="1"/>
          <p:nvPr/>
        </p:nvSpPr>
        <p:spPr>
          <a:xfrm>
            <a:off x="5003575" y="3841763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Algorithmic fairness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Findings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Recommendations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216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216"/>
          <p:cNvSpPr/>
          <p:nvPr/>
        </p:nvSpPr>
        <p:spPr>
          <a:xfrm>
            <a:off x="942975" y="1454750"/>
            <a:ext cx="837300" cy="837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216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216"/>
          <p:cNvSpPr/>
          <p:nvPr/>
        </p:nvSpPr>
        <p:spPr>
          <a:xfrm>
            <a:off x="6858328" y="2834551"/>
            <a:ext cx="336723" cy="337013"/>
          </a:xfrm>
          <a:custGeom>
            <a:rect b="b" l="l" r="r" t="t"/>
            <a:pathLst>
              <a:path extrusionOk="0" h="18581" w="18565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216"/>
          <p:cNvSpPr/>
          <p:nvPr/>
        </p:nvSpPr>
        <p:spPr>
          <a:xfrm flipH="1">
            <a:off x="4482721" y="3683886"/>
            <a:ext cx="336704" cy="336704"/>
          </a:xfrm>
          <a:custGeom>
            <a:rect b="b" l="l" r="r" t="t"/>
            <a:pathLst>
              <a:path extrusionOk="0" h="18587" w="18587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6" name="Google Shape;1706;p216"/>
          <p:cNvCxnSpPr/>
          <p:nvPr/>
        </p:nvCxnSpPr>
        <p:spPr>
          <a:xfrm>
            <a:off x="978825" y="789025"/>
            <a:ext cx="6220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7" name="Google Shape;1707;p216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fr" sz="5400"/>
              <a:t>Initial Analysis</a:t>
            </a:r>
            <a:endParaRPr sz="5400"/>
          </a:p>
        </p:txBody>
      </p:sp>
      <p:sp>
        <p:nvSpPr>
          <p:cNvPr id="1708" name="Google Shape;1708;p216"/>
          <p:cNvSpPr txBox="1"/>
          <p:nvPr>
            <p:ph idx="1" type="subTitle"/>
          </p:nvPr>
        </p:nvSpPr>
        <p:spPr>
          <a:xfrm>
            <a:off x="1054150" y="3683875"/>
            <a:ext cx="327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/>
              <a:t>Dataset and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/>
              <a:t>Surrogate modeling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9" name="Google Shape;1709;p216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10" name="Google Shape;1710;p216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1" name="Google Shape;1711;p216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2" name="Google Shape;1712;p216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3" name="Google Shape;1713;p216">
            <a:hlinkClick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4" name="Google Shape;1714;p216"/>
          <p:cNvSpPr txBox="1"/>
          <p:nvPr/>
        </p:nvSpPr>
        <p:spPr>
          <a:xfrm>
            <a:off x="978825" y="526194"/>
            <a:ext cx="45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</a:t>
            </a:r>
            <a:r>
              <a:rPr b="0" i="0" lang="fr" sz="1500" u="none" cap="none" strike="noStrik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-202</a:t>
            </a: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5</a:t>
            </a:r>
            <a:endParaRPr b="0" i="0" sz="1500" u="none" cap="none" strike="noStrike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15" name="Google Shape;1715;p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16" name="Google Shape;1716;p216" title="HEC_Paris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17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217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217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  </a:t>
            </a:r>
            <a:r>
              <a:rPr lang="fr"/>
              <a:t> Dataset and problem</a:t>
            </a:r>
            <a:endParaRPr/>
          </a:p>
        </p:txBody>
      </p:sp>
      <p:sp>
        <p:nvSpPr>
          <p:cNvPr id="1724" name="Google Shape;1724;p217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5" name="Google Shape;1725;p217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6" name="Google Shape;1726;p217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7" name="Google Shape;1727;p217">
            <a:hlinkClick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28" name="Google Shape;1728;p217"/>
          <p:cNvSpPr txBox="1"/>
          <p:nvPr/>
        </p:nvSpPr>
        <p:spPr>
          <a:xfrm>
            <a:off x="5390451" y="403064"/>
            <a:ext cx="38952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solidFill>
                <a:srgbClr val="D1D5DB"/>
              </a:solidFill>
              <a:highlight>
                <a:srgbClr val="44465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29" name="Google Shape;1729;p217"/>
          <p:cNvSpPr/>
          <p:nvPr/>
        </p:nvSpPr>
        <p:spPr>
          <a:xfrm>
            <a:off x="814386" y="1525458"/>
            <a:ext cx="178200" cy="178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217"/>
          <p:cNvSpPr txBox="1"/>
          <p:nvPr/>
        </p:nvSpPr>
        <p:spPr>
          <a:xfrm>
            <a:off x="1788786" y="4079471"/>
            <a:ext cx="474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1" name="Google Shape;1731;p217"/>
          <p:cNvSpPr/>
          <p:nvPr/>
        </p:nvSpPr>
        <p:spPr>
          <a:xfrm>
            <a:off x="814385" y="2131274"/>
            <a:ext cx="178200" cy="178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217"/>
          <p:cNvSpPr/>
          <p:nvPr/>
        </p:nvSpPr>
        <p:spPr>
          <a:xfrm>
            <a:off x="814375" y="2829374"/>
            <a:ext cx="178200" cy="178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217"/>
          <p:cNvSpPr txBox="1"/>
          <p:nvPr/>
        </p:nvSpPr>
        <p:spPr>
          <a:xfrm>
            <a:off x="1781150" y="1523650"/>
            <a:ext cx="51660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4" name="Google Shape;1734;p217"/>
          <p:cNvSpPr txBox="1"/>
          <p:nvPr/>
        </p:nvSpPr>
        <p:spPr>
          <a:xfrm>
            <a:off x="2290736" y="4495203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2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36" name="Google Shape;1736;p217"/>
          <p:cNvSpPr/>
          <p:nvPr/>
        </p:nvSpPr>
        <p:spPr>
          <a:xfrm>
            <a:off x="814372" y="3527470"/>
            <a:ext cx="178200" cy="178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7" name="Google Shape;1737;p217" title="HEC_Paris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217"/>
          <p:cNvSpPr txBox="1"/>
          <p:nvPr/>
        </p:nvSpPr>
        <p:spPr>
          <a:xfrm>
            <a:off x="992575" y="1260550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Predict Loan Default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The goal is to classify borrower risk using a large-scale, real-world lending dataset.</a:t>
            </a:r>
            <a:endParaRPr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39" name="Google Shape;1739;p217"/>
          <p:cNvSpPr txBox="1"/>
          <p:nvPr/>
        </p:nvSpPr>
        <p:spPr>
          <a:xfrm>
            <a:off x="992575" y="1980675"/>
            <a:ext cx="5939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An Existing Black-Box Model: 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dataset includes Predicted probabilities from a model whose logic is unknown.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740" name="Google Shape;1740;p217"/>
          <p:cNvSpPr txBox="1"/>
          <p:nvPr/>
        </p:nvSpPr>
        <p:spPr>
          <a:xfrm>
            <a:off x="992575" y="2754075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Chronological Data Structure:</a:t>
            </a: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The data is ordered by loan issue date (issue_d)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741" name="Google Shape;1741;p217"/>
          <p:cNvSpPr txBox="1"/>
          <p:nvPr/>
        </p:nvSpPr>
        <p:spPr>
          <a:xfrm>
            <a:off x="992575" y="3397388"/>
            <a:ext cx="634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We will first interpret and analyze this existing model, then develop and validate our own model.</a:t>
            </a:r>
            <a:endParaRPr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218"/>
          <p:cNvSpPr/>
          <p:nvPr/>
        </p:nvSpPr>
        <p:spPr>
          <a:xfrm>
            <a:off x="8019150" y="1408713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218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218"/>
          <p:cNvSpPr txBox="1"/>
          <p:nvPr>
            <p:ph type="title"/>
          </p:nvPr>
        </p:nvSpPr>
        <p:spPr>
          <a:xfrm>
            <a:off x="612925" y="539525"/>
            <a:ext cx="720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"/>
              <a:t>Surrogate Model</a:t>
            </a:r>
            <a:endParaRPr/>
          </a:p>
        </p:txBody>
      </p:sp>
      <p:sp>
        <p:nvSpPr>
          <p:cNvPr id="1749" name="Google Shape;1749;p218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0" name="Google Shape;1750;p218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1" name="Google Shape;1751;p218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2" name="Google Shape;1752;p218">
            <a:hlinkClick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3" name="Google Shape;1753;p218"/>
          <p:cNvSpPr txBox="1"/>
          <p:nvPr/>
        </p:nvSpPr>
        <p:spPr>
          <a:xfrm>
            <a:off x="5390451" y="403064"/>
            <a:ext cx="38952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>
              <a:solidFill>
                <a:srgbClr val="D1D5DB"/>
              </a:solidFill>
              <a:highlight>
                <a:srgbClr val="444654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54" name="Google Shape;1754;p218"/>
          <p:cNvSpPr txBox="1"/>
          <p:nvPr/>
        </p:nvSpPr>
        <p:spPr>
          <a:xfrm>
            <a:off x="242161" y="2781578"/>
            <a:ext cx="5528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56" name="Google Shape;1756;p218"/>
          <p:cNvSpPr txBox="1"/>
          <p:nvPr/>
        </p:nvSpPr>
        <p:spPr>
          <a:xfrm flipH="1">
            <a:off x="4491000" y="2164763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Decision Tree (Depth = 3) 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57" name="Google Shape;1757;p218"/>
          <p:cNvSpPr txBox="1"/>
          <p:nvPr/>
        </p:nvSpPr>
        <p:spPr>
          <a:xfrm>
            <a:off x="457675" y="2483975"/>
            <a:ext cx="284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Linear Regression Surrogate R² on test set: </a:t>
            </a:r>
            <a:r>
              <a:rPr b="1"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0.9643</a:t>
            </a:r>
            <a:endParaRPr b="1" sz="105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Linear regression Surrogate MSE on test set: </a:t>
            </a:r>
            <a:r>
              <a:rPr b="1"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0.000464</a:t>
            </a:r>
            <a:endParaRPr b="1"/>
          </a:p>
        </p:txBody>
      </p:sp>
      <p:pic>
        <p:nvPicPr>
          <p:cNvPr id="1758" name="Google Shape;1758;p218"/>
          <p:cNvPicPr preferRelativeResize="0"/>
          <p:nvPr/>
        </p:nvPicPr>
        <p:blipFill rotWithShape="1">
          <a:blip r:embed="rId5">
            <a:alphaModFix/>
          </a:blip>
          <a:srcRect b="0" l="-18940" r="18939" t="0"/>
          <a:stretch/>
        </p:blipFill>
        <p:spPr>
          <a:xfrm>
            <a:off x="570402" y="3281531"/>
            <a:ext cx="2845501" cy="1523007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218"/>
          <p:cNvSpPr txBox="1"/>
          <p:nvPr/>
        </p:nvSpPr>
        <p:spPr>
          <a:xfrm>
            <a:off x="4660350" y="2591525"/>
            <a:ext cx="250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Surrogate R² on test set: </a:t>
            </a:r>
            <a:r>
              <a:rPr b="1"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0.7355</a:t>
            </a:r>
            <a:endParaRPr b="1" sz="105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Decision Tree Surrogate MSE on test set: </a:t>
            </a:r>
            <a:r>
              <a:rPr b="1" lang="fr" sz="105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0.003437</a:t>
            </a:r>
            <a:endParaRPr b="1"/>
          </a:p>
        </p:txBody>
      </p:sp>
      <p:pic>
        <p:nvPicPr>
          <p:cNvPr id="1760" name="Google Shape;1760;p2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7800" y="3335000"/>
            <a:ext cx="2658726" cy="14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218" title="HEC_Paris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350" y="44952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218"/>
          <p:cNvSpPr txBox="1"/>
          <p:nvPr/>
        </p:nvSpPr>
        <p:spPr>
          <a:xfrm flipH="1">
            <a:off x="455575" y="2100125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Linear regression</a:t>
            </a: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3" name="Google Shape;1763;p218"/>
          <p:cNvSpPr txBox="1"/>
          <p:nvPr/>
        </p:nvSpPr>
        <p:spPr>
          <a:xfrm>
            <a:off x="320350" y="1049870"/>
            <a:ext cx="74985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</a:t>
            </a: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inear models capture global linear relationships, while decision trees capture  non-linear interactions, resulting in </a:t>
            </a:r>
            <a:r>
              <a:rPr b="1"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different feature importance outcomes</a:t>
            </a: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.</a:t>
            </a:r>
            <a:endParaRPr sz="1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linear model approximates the unknown </a:t>
            </a:r>
            <a:r>
              <a:rPr b="1"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model’s predictions more accurately, </a:t>
            </a: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suggesting the grade feature’s significant role, as it reflects credit risk assessment.</a:t>
            </a:r>
            <a:endParaRPr sz="11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4" name="Google Shape;1764;p218"/>
          <p:cNvSpPr txBox="1"/>
          <p:nvPr/>
        </p:nvSpPr>
        <p:spPr>
          <a:xfrm>
            <a:off x="2874500" y="4171250"/>
            <a:ext cx="19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5" name="Google Shape;1765;p218"/>
          <p:cNvSpPr txBox="1"/>
          <p:nvPr/>
        </p:nvSpPr>
        <p:spPr>
          <a:xfrm>
            <a:off x="850450" y="4660450"/>
            <a:ext cx="303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1: Top Feature Contributions for LR</a:t>
            </a:r>
            <a:endParaRPr sz="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6" name="Google Shape;1766;p218"/>
          <p:cNvSpPr txBox="1"/>
          <p:nvPr/>
        </p:nvSpPr>
        <p:spPr>
          <a:xfrm>
            <a:off x="4487838" y="4694975"/>
            <a:ext cx="29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767" name="Google Shape;1767;p218"/>
          <p:cNvSpPr txBox="1"/>
          <p:nvPr/>
        </p:nvSpPr>
        <p:spPr>
          <a:xfrm>
            <a:off x="4345125" y="4665125"/>
            <a:ext cx="303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2 : Top Feature Contributions for Decision Tree</a:t>
            </a:r>
            <a:endParaRPr sz="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219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219"/>
          <p:cNvSpPr/>
          <p:nvPr/>
        </p:nvSpPr>
        <p:spPr>
          <a:xfrm>
            <a:off x="713225" y="1980675"/>
            <a:ext cx="837300" cy="837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219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219"/>
          <p:cNvSpPr/>
          <p:nvPr/>
        </p:nvSpPr>
        <p:spPr>
          <a:xfrm flipH="1">
            <a:off x="6923396" y="3184061"/>
            <a:ext cx="336704" cy="336704"/>
          </a:xfrm>
          <a:custGeom>
            <a:rect b="b" l="l" r="r" t="t"/>
            <a:pathLst>
              <a:path extrusionOk="0" h="18587" w="18587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219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</a:t>
            </a: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777" name="Google Shape;1777;p219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8" name="Google Shape;1778;p219"/>
          <p:cNvSpPr txBox="1"/>
          <p:nvPr>
            <p:ph type="title"/>
          </p:nvPr>
        </p:nvSpPr>
        <p:spPr>
          <a:xfrm>
            <a:off x="1767350" y="1817500"/>
            <a:ext cx="5660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fr" sz="4000"/>
              <a:t>Development of a Proposed Model</a:t>
            </a:r>
            <a:endParaRPr b="0" sz="4000"/>
          </a:p>
        </p:txBody>
      </p:sp>
      <p:sp>
        <p:nvSpPr>
          <p:cNvPr id="1779" name="Google Shape;1779;p219"/>
          <p:cNvSpPr txBox="1"/>
          <p:nvPr>
            <p:ph idx="1" type="subTitle"/>
          </p:nvPr>
        </p:nvSpPr>
        <p:spPr>
          <a:xfrm>
            <a:off x="1767350" y="3067727"/>
            <a:ext cx="35118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Data preparation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LGBM Model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None/>
            </a:pPr>
            <a:r>
              <a:rPr lang="fr" sz="1400"/>
              <a:t>Performance and stability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0" name="Google Shape;1780;p219"/>
          <p:cNvSpPr txBox="1"/>
          <p:nvPr>
            <p:ph idx="2" type="title"/>
          </p:nvPr>
        </p:nvSpPr>
        <p:spPr>
          <a:xfrm>
            <a:off x="713225" y="2125376"/>
            <a:ext cx="83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81" name="Google Shape;1781;p219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2" name="Google Shape;1782;p219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3" name="Google Shape;1783;p219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4" name="Google Shape;1784;p219">
            <a:hlinkClick action="ppaction://hlinksldjump" r:id="rId5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5" name="Google Shape;1785;p2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86" name="Google Shape;1786;p219" title="HEC_Paris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220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220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fr"/>
              <a:t>Data Preparation</a:t>
            </a:r>
            <a:endParaRPr/>
          </a:p>
        </p:txBody>
      </p:sp>
      <p:sp>
        <p:nvSpPr>
          <p:cNvPr id="1793" name="Google Shape;1793;p220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220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5" name="Google Shape;1795;p220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6" name="Google Shape;1796;p220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7" name="Google Shape;1797;p220">
            <a:hlinkClick action="ppaction://hlinksldjump" r:id="rId5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98" name="Google Shape;1798;p2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99" name="Google Shape;1799;p220"/>
          <p:cNvSpPr txBox="1"/>
          <p:nvPr/>
        </p:nvSpPr>
        <p:spPr>
          <a:xfrm>
            <a:off x="1737163" y="1284375"/>
            <a:ext cx="555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hlink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D0F22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00" name="Google Shape;1800;p220" title="HEC_Paris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220"/>
          <p:cNvSpPr txBox="1"/>
          <p:nvPr/>
        </p:nvSpPr>
        <p:spPr>
          <a:xfrm>
            <a:off x="104550" y="1106950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To develop our own model to predict the target.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02" name="Google Shape;1802;p220"/>
          <p:cNvSpPr txBox="1"/>
          <p:nvPr/>
        </p:nvSpPr>
        <p:spPr>
          <a:xfrm>
            <a:off x="612925" y="1497725"/>
            <a:ext cx="68148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Time-Based Split for Performance Evaluation 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the issue_d column, we created a primary dataset to train our model on past data (2012-2015) and test its performance on future data (2016).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Dedicated Datasets for Stability Analysis 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To test for stability, a second, completely separate dataset from a later period (2017-2020) was created with train and test split . </a:t>
            </a:r>
            <a:r>
              <a:rPr i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(The proportion of default is approximately the same in each split) </a:t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Model Selection: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chose LightGBM (LGBM) as our model.</a:t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221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221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/>
              <a:t>Performance analysis</a:t>
            </a:r>
            <a:endParaRPr/>
          </a:p>
        </p:txBody>
      </p:sp>
      <p:sp>
        <p:nvSpPr>
          <p:cNvPr id="1809" name="Google Shape;1809;p221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221">
            <a:hlinkClick action="ppaction://hlinksldjump" r:id="rId4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1" name="Google Shape;1811;p221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2" name="Google Shape;1812;p221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3" name="Google Shape;1813;p221">
            <a:hlinkClick action="ppaction://hlinksldjump" r:id="rId6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4" name="Google Shape;1814;p2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5" name="Google Shape;1815;p221"/>
          <p:cNvSpPr txBox="1"/>
          <p:nvPr/>
        </p:nvSpPr>
        <p:spPr>
          <a:xfrm>
            <a:off x="1737163" y="1284375"/>
            <a:ext cx="5557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pic>
        <p:nvPicPr>
          <p:cNvPr id="1816" name="Google Shape;1816;p221" title="HEC_Paris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221"/>
          <p:cNvSpPr txBox="1"/>
          <p:nvPr/>
        </p:nvSpPr>
        <p:spPr>
          <a:xfrm>
            <a:off x="104425" y="1091975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want to quantify the predictive performance of our LGBM model.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18" name="Google Shape;1818;p221"/>
          <p:cNvSpPr txBox="1"/>
          <p:nvPr/>
        </p:nvSpPr>
        <p:spPr>
          <a:xfrm>
            <a:off x="612925" y="1764900"/>
            <a:ext cx="68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19" name="Google Shape;1819;p2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34612" y="1566431"/>
            <a:ext cx="2828725" cy="27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221"/>
          <p:cNvSpPr txBox="1"/>
          <p:nvPr/>
        </p:nvSpPr>
        <p:spPr>
          <a:xfrm>
            <a:off x="4697975" y="4306750"/>
            <a:ext cx="250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1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3: ROC AUC on the 2016 test set</a:t>
            </a:r>
            <a:endParaRPr sz="1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21" name="Google Shape;1821;p221"/>
          <p:cNvSpPr txBox="1"/>
          <p:nvPr/>
        </p:nvSpPr>
        <p:spPr>
          <a:xfrm>
            <a:off x="457675" y="2013113"/>
            <a:ext cx="362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Our model achieved an AUC of 0.7177, outperforming the other model's AUC of 0.7109.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Google Shape;1826;p222"/>
          <p:cNvPicPr preferRelativeResize="0"/>
          <p:nvPr/>
        </p:nvPicPr>
        <p:blipFill rotWithShape="1">
          <a:blip r:embed="rId3">
            <a:alphaModFix/>
          </a:blip>
          <a:srcRect b="0" l="1822" r="1735" t="0"/>
          <a:stretch/>
        </p:blipFill>
        <p:spPr>
          <a:xfrm>
            <a:off x="3847775" y="2087250"/>
            <a:ext cx="4005275" cy="17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222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222"/>
          <p:cNvSpPr txBox="1"/>
          <p:nvPr>
            <p:ph type="title"/>
          </p:nvPr>
        </p:nvSpPr>
        <p:spPr>
          <a:xfrm>
            <a:off x="612925" y="539525"/>
            <a:ext cx="6814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/>
              <a:t>Stability analysis</a:t>
            </a:r>
            <a:endParaRPr/>
          </a:p>
        </p:txBody>
      </p:sp>
      <p:sp>
        <p:nvSpPr>
          <p:cNvPr id="1829" name="Google Shape;1829;p222"/>
          <p:cNvSpPr/>
          <p:nvPr/>
        </p:nvSpPr>
        <p:spPr>
          <a:xfrm>
            <a:off x="8019150" y="22861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222">
            <a:hlinkClick action="ppaction://hlinksldjump" r:id="rId4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1" name="Google Shape;1831;p222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2" name="Google Shape;1832;p222">
            <a:hlinkClick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3" name="Google Shape;1833;p222">
            <a:hlinkClick action="ppaction://hlinksldjump" r:id="rId6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34" name="Google Shape;1834;p2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35" name="Google Shape;1835;p222"/>
          <p:cNvSpPr txBox="1"/>
          <p:nvPr/>
        </p:nvSpPr>
        <p:spPr>
          <a:xfrm>
            <a:off x="1737163" y="1284375"/>
            <a:ext cx="5557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pic>
        <p:nvPicPr>
          <p:cNvPr id="1836" name="Google Shape;1836;p222" title="HEC_Paris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222"/>
          <p:cNvSpPr txBox="1"/>
          <p:nvPr/>
        </p:nvSpPr>
        <p:spPr>
          <a:xfrm>
            <a:off x="104425" y="1091975"/>
            <a:ext cx="73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We train the model on the other split of the data that we didn’t touch for now </a:t>
            </a:r>
            <a:endParaRPr sz="10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38" name="Google Shape;1838;p222"/>
          <p:cNvSpPr txBox="1"/>
          <p:nvPr/>
        </p:nvSpPr>
        <p:spPr>
          <a:xfrm>
            <a:off x="104425" y="1488075"/>
            <a:ext cx="767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Results</a:t>
            </a:r>
            <a:r>
              <a:rPr b="1"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:</a:t>
            </a:r>
            <a:r>
              <a:rPr lang="fr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Pearson correlation between feature importances is 0.9657. The top 10 keeps almost all the same features.</a:t>
            </a:r>
            <a:endParaRPr sz="950">
              <a:solidFill>
                <a:srgbClr val="E2E2E5"/>
              </a:solidFill>
              <a:highlight>
                <a:srgbClr val="191919"/>
              </a:highlight>
            </a:endParaRPr>
          </a:p>
        </p:txBody>
      </p:sp>
      <p:sp>
        <p:nvSpPr>
          <p:cNvPr id="1839" name="Google Shape;1839;p222"/>
          <p:cNvSpPr txBox="1"/>
          <p:nvPr/>
        </p:nvSpPr>
        <p:spPr>
          <a:xfrm>
            <a:off x="735150" y="4306750"/>
            <a:ext cx="29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40" name="Google Shape;1840;p2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5675" y="2666418"/>
            <a:ext cx="3119225" cy="81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222"/>
          <p:cNvSpPr txBox="1"/>
          <p:nvPr/>
        </p:nvSpPr>
        <p:spPr>
          <a:xfrm>
            <a:off x="465675" y="3646000"/>
            <a:ext cx="311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4 : AUC and Accuracy over the datasets</a:t>
            </a:r>
            <a:endParaRPr b="1" sz="1000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42" name="Google Shape;1842;p222"/>
          <p:cNvSpPr txBox="1"/>
          <p:nvPr/>
        </p:nvSpPr>
        <p:spPr>
          <a:xfrm>
            <a:off x="4294675" y="4079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fr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5 : Top 10 features over the datasets</a:t>
            </a:r>
            <a:endParaRPr b="1" sz="1000" u="sng"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223"/>
          <p:cNvSpPr/>
          <p:nvPr/>
        </p:nvSpPr>
        <p:spPr>
          <a:xfrm>
            <a:off x="942975" y="1454763"/>
            <a:ext cx="837300" cy="837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223"/>
          <p:cNvSpPr/>
          <p:nvPr/>
        </p:nvSpPr>
        <p:spPr>
          <a:xfrm>
            <a:off x="6858328" y="2909476"/>
            <a:ext cx="336723" cy="337013"/>
          </a:xfrm>
          <a:custGeom>
            <a:rect b="b" l="l" r="r" t="t"/>
            <a:pathLst>
              <a:path extrusionOk="0" h="18581" w="18565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223"/>
          <p:cNvSpPr/>
          <p:nvPr/>
        </p:nvSpPr>
        <p:spPr>
          <a:xfrm flipH="1">
            <a:off x="6858346" y="3683886"/>
            <a:ext cx="336704" cy="336704"/>
          </a:xfrm>
          <a:custGeom>
            <a:rect b="b" l="l" r="r" t="t"/>
            <a:pathLst>
              <a:path extrusionOk="0" h="18587" w="18587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223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223"/>
          <p:cNvSpPr txBox="1"/>
          <p:nvPr>
            <p:ph type="title"/>
          </p:nvPr>
        </p:nvSpPr>
        <p:spPr>
          <a:xfrm>
            <a:off x="814575" y="2514388"/>
            <a:ext cx="5922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5300"/>
              <a:t>Interpretability </a:t>
            </a:r>
            <a:endParaRPr sz="5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t/>
            </a:r>
            <a:endParaRPr sz="8900"/>
          </a:p>
        </p:txBody>
      </p:sp>
      <p:sp>
        <p:nvSpPr>
          <p:cNvPr id="1852" name="Google Shape;1852;p223"/>
          <p:cNvSpPr txBox="1"/>
          <p:nvPr>
            <p:ph idx="2" type="title"/>
          </p:nvPr>
        </p:nvSpPr>
        <p:spPr>
          <a:xfrm>
            <a:off x="942975" y="1626953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853" name="Google Shape;1853;p223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223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5" name="Google Shape;1855;p223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6" name="Google Shape;1856;p223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7" name="Google Shape;1857;p223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8" name="Google Shape;1858;p2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59" name="Google Shape;1859;p223"/>
          <p:cNvSpPr txBox="1"/>
          <p:nvPr/>
        </p:nvSpPr>
        <p:spPr>
          <a:xfrm>
            <a:off x="942975" y="3363725"/>
            <a:ext cx="38397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Global interpretability 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Local interpretability 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Performance / Predictions drivers</a:t>
            </a:r>
            <a:endParaRPr sz="16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60" name="Google Shape;1860;p223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24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224"/>
          <p:cNvSpPr txBox="1"/>
          <p:nvPr>
            <p:ph type="title"/>
          </p:nvPr>
        </p:nvSpPr>
        <p:spPr>
          <a:xfrm>
            <a:off x="556825" y="789032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Global interpretability </a:t>
            </a:r>
            <a:endParaRPr/>
          </a:p>
        </p:txBody>
      </p:sp>
      <p:sp>
        <p:nvSpPr>
          <p:cNvPr id="1867" name="Google Shape;1867;p224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224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69" name="Google Shape;1869;p224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0" name="Google Shape;1870;p224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1" name="Google Shape;1871;p224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2" name="Google Shape;1872;p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73" name="Google Shape;1873;p224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224"/>
          <p:cNvSpPr txBox="1"/>
          <p:nvPr/>
        </p:nvSpPr>
        <p:spPr>
          <a:xfrm>
            <a:off x="457675" y="1254325"/>
            <a:ext cx="7432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Methodology: 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Training of surrogate models (Linear Regression, Decision Tree) to predict the 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output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for our trained model and compare it to the surrogate models of the unknown model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Results:</a:t>
            </a:r>
            <a:endParaRPr b="1"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            </a:t>
            </a:r>
            <a:endParaRPr b="1"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75" name="Google Shape;1875;p224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76" name="Google Shape;1876;p224"/>
          <p:cNvSpPr txBox="1"/>
          <p:nvPr/>
        </p:nvSpPr>
        <p:spPr>
          <a:xfrm>
            <a:off x="457675" y="2398400"/>
            <a:ext cx="31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77" name="Google Shape;1877;p224"/>
          <p:cNvSpPr txBox="1"/>
          <p:nvPr/>
        </p:nvSpPr>
        <p:spPr>
          <a:xfrm>
            <a:off x="4523263" y="2053825"/>
            <a:ext cx="30000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Unknown Model: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Linear surrogate captures 96.43% of variance → suggests simpler, linear decision boundary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LGBM Model: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Linear surrogate captures 90.76% of variance → more complex, non-linear relationships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tree R2 is approximately the same for the surrogate of both models 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878" name="Google Shape;1878;p2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675" y="2398388"/>
            <a:ext cx="3986750" cy="12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224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Figure 6 : Linear and Tree R2 across models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225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225"/>
          <p:cNvSpPr txBox="1"/>
          <p:nvPr>
            <p:ph type="title"/>
          </p:nvPr>
        </p:nvSpPr>
        <p:spPr>
          <a:xfrm>
            <a:off x="556825" y="789032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Global interpretability </a:t>
            </a:r>
            <a:endParaRPr/>
          </a:p>
        </p:txBody>
      </p:sp>
      <p:sp>
        <p:nvSpPr>
          <p:cNvPr id="1886" name="Google Shape;1886;p225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25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8" name="Google Shape;1888;p225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9" name="Google Shape;1889;p225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90" name="Google Shape;1890;p225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91" name="Google Shape;1891;p2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92" name="Google Shape;1892;p225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225"/>
          <p:cNvSpPr txBox="1"/>
          <p:nvPr/>
        </p:nvSpPr>
        <p:spPr>
          <a:xfrm>
            <a:off x="457675" y="1254325"/>
            <a:ext cx="74328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partial dependence plots to gain a better understanding of the average effect of each feature on the predicted outcome : 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            </a:t>
            </a:r>
            <a:endParaRPr b="1"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94" name="Google Shape;1894;p225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895" name="Google Shape;1895;p225"/>
          <p:cNvSpPr txBox="1"/>
          <p:nvPr/>
        </p:nvSpPr>
        <p:spPr>
          <a:xfrm>
            <a:off x="457675" y="2398400"/>
            <a:ext cx="31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896" name="Google Shape;1896;p2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89975" y="1907400"/>
            <a:ext cx="3111900" cy="23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2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38800" y="1907000"/>
            <a:ext cx="3111899" cy="232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226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226"/>
          <p:cNvSpPr txBox="1"/>
          <p:nvPr>
            <p:ph type="title"/>
          </p:nvPr>
        </p:nvSpPr>
        <p:spPr>
          <a:xfrm>
            <a:off x="556825" y="269386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Local interpretability </a:t>
            </a:r>
            <a:endParaRPr/>
          </a:p>
        </p:txBody>
      </p:sp>
      <p:sp>
        <p:nvSpPr>
          <p:cNvPr id="1904" name="Google Shape;1904;p226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226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6" name="Google Shape;1906;p226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7" name="Google Shape;1907;p226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8" name="Google Shape;1908;p226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9" name="Google Shape;1909;p2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10" name="Google Shape;1910;p226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226"/>
          <p:cNvSpPr txBox="1"/>
          <p:nvPr/>
        </p:nvSpPr>
        <p:spPr>
          <a:xfrm>
            <a:off x="457675" y="713277"/>
            <a:ext cx="7432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Approach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Use global interpretability results and compare True Positive &amp; False Negative records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2" name="Google Shape;1912;p226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3" name="Google Shape;1913;p226"/>
          <p:cNvSpPr txBox="1"/>
          <p:nvPr/>
        </p:nvSpPr>
        <p:spPr>
          <a:xfrm>
            <a:off x="4523263" y="2053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14" name="Google Shape;1914;p226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15" name="Google Shape;1915;p226"/>
          <p:cNvGrpSpPr/>
          <p:nvPr/>
        </p:nvGrpSpPr>
        <p:grpSpPr>
          <a:xfrm>
            <a:off x="538687" y="1419571"/>
            <a:ext cx="3211451" cy="1355826"/>
            <a:chOff x="602900" y="1794150"/>
            <a:chExt cx="3211451" cy="1355826"/>
          </a:xfrm>
        </p:grpSpPr>
        <p:pic>
          <p:nvPicPr>
            <p:cNvPr id="1916" name="Google Shape;1916;p226" title="198k case lime.png"/>
            <p:cNvPicPr preferRelativeResize="0"/>
            <p:nvPr/>
          </p:nvPicPr>
          <p:blipFill rotWithShape="1">
            <a:blip r:embed="rId10">
              <a:alphaModFix/>
            </a:blip>
            <a:srcRect b="59929" l="1372" r="3289" t="0"/>
            <a:stretch/>
          </p:blipFill>
          <p:spPr>
            <a:xfrm>
              <a:off x="602900" y="1794150"/>
              <a:ext cx="3211451" cy="967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226" title="198k case lime.png"/>
            <p:cNvPicPr preferRelativeResize="0"/>
            <p:nvPr/>
          </p:nvPicPr>
          <p:blipFill rotWithShape="1">
            <a:blip r:embed="rId10">
              <a:alphaModFix/>
            </a:blip>
            <a:srcRect b="530" l="1363" r="3307" t="76315"/>
            <a:stretch/>
          </p:blipFill>
          <p:spPr>
            <a:xfrm>
              <a:off x="602900" y="2590675"/>
              <a:ext cx="3211451" cy="5593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8" name="Google Shape;1918;p226"/>
          <p:cNvGrpSpPr/>
          <p:nvPr/>
        </p:nvGrpSpPr>
        <p:grpSpPr>
          <a:xfrm>
            <a:off x="4199721" y="1415735"/>
            <a:ext cx="3348346" cy="1278887"/>
            <a:chOff x="4241000" y="1787254"/>
            <a:chExt cx="3649821" cy="1394034"/>
          </a:xfrm>
        </p:grpSpPr>
        <p:pic>
          <p:nvPicPr>
            <p:cNvPr id="1919" name="Google Shape;1919;p226" title="zip cluster lime.png"/>
            <p:cNvPicPr preferRelativeResize="0"/>
            <p:nvPr/>
          </p:nvPicPr>
          <p:blipFill rotWithShape="1">
            <a:blip r:embed="rId11">
              <a:alphaModFix/>
            </a:blip>
            <a:srcRect b="62888" l="2336" r="2316" t="738"/>
            <a:stretch/>
          </p:blipFill>
          <p:spPr>
            <a:xfrm>
              <a:off x="4241000" y="1787254"/>
              <a:ext cx="3649475" cy="1057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226" title="zip cluster lime.png"/>
            <p:cNvPicPr preferRelativeResize="0"/>
            <p:nvPr/>
          </p:nvPicPr>
          <p:blipFill rotWithShape="1">
            <a:blip r:embed="rId11">
              <a:alphaModFix/>
            </a:blip>
            <a:srcRect b="3455" l="2336" r="2316" t="80538"/>
            <a:stretch/>
          </p:blipFill>
          <p:spPr>
            <a:xfrm>
              <a:off x="4241346" y="2716037"/>
              <a:ext cx="3649475" cy="4652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1" name="Google Shape;1921;p226"/>
          <p:cNvSpPr txBox="1"/>
          <p:nvPr/>
        </p:nvSpPr>
        <p:spPr>
          <a:xfrm>
            <a:off x="356010" y="944949"/>
            <a:ext cx="74328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●"/>
            </a:pPr>
            <a:r>
              <a:rPr b="1" lang="fr" sz="1200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From PDP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Annual incomes above 120k, interest rates, and sub-grades 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22" name="Google Shape;1922;p226"/>
          <p:cNvGrpSpPr/>
          <p:nvPr/>
        </p:nvGrpSpPr>
        <p:grpSpPr>
          <a:xfrm>
            <a:off x="495471" y="2977995"/>
            <a:ext cx="3211589" cy="1725630"/>
            <a:chOff x="581900" y="2844475"/>
            <a:chExt cx="3125026" cy="1725630"/>
          </a:xfrm>
        </p:grpSpPr>
        <p:pic>
          <p:nvPicPr>
            <p:cNvPr id="1923" name="Google Shape;1923;p226" title="198k case shap.png"/>
            <p:cNvPicPr preferRelativeResize="0"/>
            <p:nvPr/>
          </p:nvPicPr>
          <p:blipFill rotWithShape="1">
            <a:blip r:embed="rId12">
              <a:alphaModFix/>
            </a:blip>
            <a:srcRect b="37059" l="0" r="0" t="0"/>
            <a:stretch/>
          </p:blipFill>
          <p:spPr>
            <a:xfrm>
              <a:off x="581900" y="2844475"/>
              <a:ext cx="3125026" cy="1666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4" name="Google Shape;1924;p226" title="198k case shap.png"/>
            <p:cNvPicPr preferRelativeResize="0"/>
            <p:nvPr/>
          </p:nvPicPr>
          <p:blipFill rotWithShape="1">
            <a:blip r:embed="rId12">
              <a:alphaModFix/>
            </a:blip>
            <a:srcRect b="3936" l="0" r="0" t="91207"/>
            <a:stretch/>
          </p:blipFill>
          <p:spPr>
            <a:xfrm>
              <a:off x="581904" y="4441529"/>
              <a:ext cx="3125012" cy="12857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25" name="Google Shape;1925;p226"/>
          <p:cNvCxnSpPr/>
          <p:nvPr/>
        </p:nvCxnSpPr>
        <p:spPr>
          <a:xfrm>
            <a:off x="3963600" y="1447200"/>
            <a:ext cx="3600" cy="338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26" name="Google Shape;1926;p226"/>
          <p:cNvSpPr txBox="1"/>
          <p:nvPr/>
        </p:nvSpPr>
        <p:spPr>
          <a:xfrm>
            <a:off x="495476" y="2911050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9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b="1" sz="9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27" name="Google Shape;1927;p226"/>
          <p:cNvSpPr txBox="1"/>
          <p:nvPr/>
        </p:nvSpPr>
        <p:spPr>
          <a:xfrm>
            <a:off x="4101881" y="2902905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9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b="1" sz="9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28" name="Google Shape;1928;p226"/>
          <p:cNvGrpSpPr/>
          <p:nvPr/>
        </p:nvGrpSpPr>
        <p:grpSpPr>
          <a:xfrm>
            <a:off x="4294750" y="3109675"/>
            <a:ext cx="3136699" cy="1640176"/>
            <a:chOff x="4294750" y="3109675"/>
            <a:chExt cx="3136699" cy="1640176"/>
          </a:xfrm>
        </p:grpSpPr>
        <p:pic>
          <p:nvPicPr>
            <p:cNvPr id="1929" name="Google Shape;1929;p226" title="shap for 323.png"/>
            <p:cNvPicPr preferRelativeResize="0"/>
            <p:nvPr/>
          </p:nvPicPr>
          <p:blipFill rotWithShape="1">
            <a:blip r:embed="rId13">
              <a:alphaModFix/>
            </a:blip>
            <a:srcRect b="41517" l="0" r="0" t="0"/>
            <a:stretch/>
          </p:blipFill>
          <p:spPr>
            <a:xfrm>
              <a:off x="4294750" y="3109675"/>
              <a:ext cx="3136699" cy="150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0" name="Google Shape;1930;p226" title="shap for 323.png"/>
            <p:cNvPicPr preferRelativeResize="0"/>
            <p:nvPr/>
          </p:nvPicPr>
          <p:blipFill rotWithShape="1">
            <a:blip r:embed="rId13">
              <a:alphaModFix/>
            </a:blip>
            <a:srcRect b="2192" l="0" r="0" t="90902"/>
            <a:stretch/>
          </p:blipFill>
          <p:spPr>
            <a:xfrm>
              <a:off x="4294750" y="4572076"/>
              <a:ext cx="3136699" cy="177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27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227"/>
          <p:cNvSpPr txBox="1"/>
          <p:nvPr>
            <p:ph type="title"/>
          </p:nvPr>
        </p:nvSpPr>
        <p:spPr>
          <a:xfrm>
            <a:off x="556825" y="269386"/>
            <a:ext cx="59226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3300"/>
              <a:t>Local interpretability </a:t>
            </a:r>
            <a:endParaRPr/>
          </a:p>
        </p:txBody>
      </p:sp>
      <p:sp>
        <p:nvSpPr>
          <p:cNvPr id="1937" name="Google Shape;1937;p227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227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39" name="Google Shape;1939;p227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0" name="Google Shape;1940;p227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1" name="Google Shape;1941;p227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42" name="Google Shape;1942;p2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43" name="Google Shape;1943;p227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227"/>
          <p:cNvSpPr txBox="1"/>
          <p:nvPr/>
        </p:nvSpPr>
        <p:spPr>
          <a:xfrm>
            <a:off x="457675" y="713277"/>
            <a:ext cx="74328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Approach</a:t>
            </a:r>
            <a:r>
              <a:rPr lang="fr" sz="12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: Use global interpretability results and compare True Positive &amp; False Negative records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5" name="Google Shape;1945;p227"/>
          <p:cNvSpPr txBox="1"/>
          <p:nvPr/>
        </p:nvSpPr>
        <p:spPr>
          <a:xfrm flipH="1">
            <a:off x="4572000" y="1907400"/>
            <a:ext cx="2845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6" name="Google Shape;1946;p227"/>
          <p:cNvSpPr txBox="1"/>
          <p:nvPr/>
        </p:nvSpPr>
        <p:spPr>
          <a:xfrm>
            <a:off x="4523263" y="2053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7" name="Google Shape;1947;p227"/>
          <p:cNvSpPr txBox="1"/>
          <p:nvPr/>
        </p:nvSpPr>
        <p:spPr>
          <a:xfrm>
            <a:off x="457675" y="3708275"/>
            <a:ext cx="356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948" name="Google Shape;1948;p227"/>
          <p:cNvSpPr txBox="1"/>
          <p:nvPr/>
        </p:nvSpPr>
        <p:spPr>
          <a:xfrm>
            <a:off x="356010" y="926977"/>
            <a:ext cx="74328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●"/>
            </a:pPr>
            <a:r>
              <a:rPr b="1" lang="fr" sz="1200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True Positive and False negative</a:t>
            </a:r>
            <a:endParaRPr b="1" sz="1200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1949" name="Google Shape;1949;p227"/>
          <p:cNvCxnSpPr/>
          <p:nvPr/>
        </p:nvCxnSpPr>
        <p:spPr>
          <a:xfrm>
            <a:off x="4068143" y="1447200"/>
            <a:ext cx="3600" cy="338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50" name="Google Shape;1950;p227"/>
          <p:cNvSpPr txBox="1"/>
          <p:nvPr/>
        </p:nvSpPr>
        <p:spPr>
          <a:xfrm>
            <a:off x="4101881" y="2902905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9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b="1" sz="9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51" name="Google Shape;1951;p227"/>
          <p:cNvGrpSpPr/>
          <p:nvPr/>
        </p:nvGrpSpPr>
        <p:grpSpPr>
          <a:xfrm>
            <a:off x="333010" y="1273200"/>
            <a:ext cx="3571998" cy="1535293"/>
            <a:chOff x="472400" y="1273200"/>
            <a:chExt cx="3571998" cy="1535293"/>
          </a:xfrm>
        </p:grpSpPr>
        <p:pic>
          <p:nvPicPr>
            <p:cNvPr id="1952" name="Google Shape;1952;p227"/>
            <p:cNvPicPr preferRelativeResize="0"/>
            <p:nvPr/>
          </p:nvPicPr>
          <p:blipFill rotWithShape="1">
            <a:blip r:embed="rId10">
              <a:alphaModFix/>
            </a:blip>
            <a:srcRect b="59910" l="0" r="0" t="0"/>
            <a:stretch/>
          </p:blipFill>
          <p:spPr>
            <a:xfrm>
              <a:off x="472400" y="1273200"/>
              <a:ext cx="3569701" cy="1062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3" name="Google Shape;1953;p227"/>
            <p:cNvPicPr preferRelativeResize="0"/>
            <p:nvPr/>
          </p:nvPicPr>
          <p:blipFill rotWithShape="1">
            <a:blip r:embed="rId10">
              <a:alphaModFix/>
            </a:blip>
            <a:srcRect b="-1766" l="0" r="0" t="84208"/>
            <a:stretch/>
          </p:blipFill>
          <p:spPr>
            <a:xfrm>
              <a:off x="474697" y="2343244"/>
              <a:ext cx="3569701" cy="4652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4" name="Google Shape;1954;p227"/>
          <p:cNvGrpSpPr/>
          <p:nvPr/>
        </p:nvGrpSpPr>
        <p:grpSpPr>
          <a:xfrm>
            <a:off x="4133154" y="1286830"/>
            <a:ext cx="3521675" cy="1442452"/>
            <a:chOff x="4467000" y="1290225"/>
            <a:chExt cx="3098975" cy="1269317"/>
          </a:xfrm>
        </p:grpSpPr>
        <p:pic>
          <p:nvPicPr>
            <p:cNvPr id="1955" name="Google Shape;1955;p227" title="11 true negative.png"/>
            <p:cNvPicPr preferRelativeResize="0"/>
            <p:nvPr/>
          </p:nvPicPr>
          <p:blipFill rotWithShape="1">
            <a:blip r:embed="rId11">
              <a:alphaModFix/>
            </a:blip>
            <a:srcRect b="60628" l="0" r="0" t="0"/>
            <a:stretch/>
          </p:blipFill>
          <p:spPr>
            <a:xfrm>
              <a:off x="4467000" y="1290225"/>
              <a:ext cx="3097850" cy="901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6" name="Google Shape;1956;p227" title="11 true negative.png"/>
            <p:cNvPicPr preferRelativeResize="0"/>
            <p:nvPr/>
          </p:nvPicPr>
          <p:blipFill rotWithShape="1">
            <a:blip r:embed="rId11">
              <a:alphaModFix/>
            </a:blip>
            <a:srcRect b="0" l="0" r="0" t="83863"/>
            <a:stretch/>
          </p:blipFill>
          <p:spPr>
            <a:xfrm>
              <a:off x="4468125" y="2190243"/>
              <a:ext cx="3097850" cy="36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7" name="Google Shape;1957;p227"/>
          <p:cNvGrpSpPr/>
          <p:nvPr/>
        </p:nvGrpSpPr>
        <p:grpSpPr>
          <a:xfrm>
            <a:off x="379975" y="2995995"/>
            <a:ext cx="3605275" cy="1810305"/>
            <a:chOff x="830737" y="2293539"/>
            <a:chExt cx="3605275" cy="1810305"/>
          </a:xfrm>
        </p:grpSpPr>
        <p:pic>
          <p:nvPicPr>
            <p:cNvPr id="1958" name="Google Shape;1958;p227" title="8 shap.png"/>
            <p:cNvPicPr preferRelativeResize="0"/>
            <p:nvPr/>
          </p:nvPicPr>
          <p:blipFill rotWithShape="1">
            <a:blip r:embed="rId12">
              <a:alphaModFix/>
            </a:blip>
            <a:srcRect b="48330" l="5138" r="8498" t="2772"/>
            <a:stretch/>
          </p:blipFill>
          <p:spPr>
            <a:xfrm>
              <a:off x="830738" y="2293539"/>
              <a:ext cx="3572000" cy="1655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9" name="Google Shape;1959;p227" title="8 shap.png"/>
            <p:cNvPicPr preferRelativeResize="0"/>
            <p:nvPr/>
          </p:nvPicPr>
          <p:blipFill rotWithShape="1">
            <a:blip r:embed="rId12">
              <a:alphaModFix/>
            </a:blip>
            <a:srcRect b="1939" l="5413" r="7409" t="93133"/>
            <a:stretch/>
          </p:blipFill>
          <p:spPr>
            <a:xfrm>
              <a:off x="830737" y="3937019"/>
              <a:ext cx="3605275" cy="166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0" name="Google Shape;1960;p227"/>
          <p:cNvSpPr txBox="1"/>
          <p:nvPr/>
        </p:nvSpPr>
        <p:spPr>
          <a:xfrm>
            <a:off x="495476" y="2911050"/>
            <a:ext cx="46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900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</a:rPr>
              <a:t>SHAP</a:t>
            </a:r>
            <a:endParaRPr b="1" sz="9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961" name="Google Shape;1961;p227"/>
          <p:cNvGrpSpPr/>
          <p:nvPr/>
        </p:nvGrpSpPr>
        <p:grpSpPr>
          <a:xfrm>
            <a:off x="4154650" y="3215674"/>
            <a:ext cx="3557619" cy="1589141"/>
            <a:chOff x="4154650" y="3149974"/>
            <a:chExt cx="3557619" cy="1589141"/>
          </a:xfrm>
        </p:grpSpPr>
        <p:pic>
          <p:nvPicPr>
            <p:cNvPr id="1962" name="Google Shape;1962;p227" title="11 shap true negative.png"/>
            <p:cNvPicPr preferRelativeResize="0"/>
            <p:nvPr/>
          </p:nvPicPr>
          <p:blipFill rotWithShape="1">
            <a:blip r:embed="rId13">
              <a:alphaModFix/>
            </a:blip>
            <a:srcRect b="43367" l="0" r="0" t="5478"/>
            <a:stretch/>
          </p:blipFill>
          <p:spPr>
            <a:xfrm>
              <a:off x="4154650" y="3149974"/>
              <a:ext cx="3521675" cy="1535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3" name="Google Shape;1963;p227" title="11 shap true negative.png"/>
            <p:cNvPicPr preferRelativeResize="0"/>
            <p:nvPr/>
          </p:nvPicPr>
          <p:blipFill rotWithShape="1">
            <a:blip r:embed="rId13">
              <a:alphaModFix/>
            </a:blip>
            <a:srcRect b="3091" l="0" r="0" t="90921"/>
            <a:stretch/>
          </p:blipFill>
          <p:spPr>
            <a:xfrm>
              <a:off x="4190593" y="4559416"/>
              <a:ext cx="3521675" cy="179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228"/>
          <p:cNvSpPr txBox="1"/>
          <p:nvPr>
            <p:ph type="title"/>
          </p:nvPr>
        </p:nvSpPr>
        <p:spPr>
          <a:xfrm>
            <a:off x="1682700" y="426075"/>
            <a:ext cx="57786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Performance Interpretability (Permutation Importance)</a:t>
            </a:r>
            <a:endParaRPr sz="2300"/>
          </a:p>
        </p:txBody>
      </p:sp>
      <p:sp>
        <p:nvSpPr>
          <p:cNvPr id="1969" name="Google Shape;1969;p228"/>
          <p:cNvSpPr txBox="1"/>
          <p:nvPr>
            <p:ph idx="2" type="title"/>
          </p:nvPr>
        </p:nvSpPr>
        <p:spPr>
          <a:xfrm>
            <a:off x="352675" y="598300"/>
            <a:ext cx="33183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 sz="100">
                <a:solidFill>
                  <a:schemeClr val="accent4"/>
                </a:solidFill>
              </a:rPr>
              <a:t>aaaaaa</a:t>
            </a:r>
            <a:endParaRPr sz="100">
              <a:solidFill>
                <a:schemeClr val="accent4"/>
              </a:solidFill>
            </a:endParaRPr>
          </a:p>
        </p:txBody>
      </p:sp>
      <p:sp>
        <p:nvSpPr>
          <p:cNvPr id="1970" name="Google Shape;1970;p2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71" name="Google Shape;1971;p228"/>
          <p:cNvSpPr txBox="1"/>
          <p:nvPr/>
        </p:nvSpPr>
        <p:spPr>
          <a:xfrm>
            <a:off x="1142375" y="1117350"/>
            <a:ext cx="5826600" cy="16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Shuffled features in the test set to measure drop in AUC (importance = performance impact).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Key findings: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2016: sub_grade is the top performance driver; loan_duration and funded_amnt follow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2019–20: int_rate and funded_amnt dominate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Shift over time: loan_duration matters much less later (0.017 → 0.005), while num_il_tl enters the top drivers in 2019–20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1972" name="Google Shape;1972;p228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228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228">
            <a:hlinkClick action="ppaction://hlinksldjump" r:id="rId4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5" name="Google Shape;1975;p228">
            <a:hlinkClick action="ppaction://hlinksldjump" r:id="rId6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6" name="Google Shape;1976;p228"/>
          <p:cNvSpPr/>
          <p:nvPr/>
        </p:nvSpPr>
        <p:spPr>
          <a:xfrm>
            <a:off x="8019150" y="31499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228">
            <a:hlinkClick action="ppaction://hlinksldjump" r:id="rId8"/>
          </p:cNvPr>
          <p:cNvSpPr txBox="1"/>
          <p:nvPr/>
        </p:nvSpPr>
        <p:spPr>
          <a:xfrm>
            <a:off x="8004450" y="3215678"/>
            <a:ext cx="732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b="1" lang="fr" sz="3200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sz="3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8" name="Google Shape;1978;p228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979" name="Google Shape;1979;p228" title="step8_permutation_importance_201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89975" y="2743325"/>
            <a:ext cx="3373855" cy="200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228" title="step8_permutation_importance_2019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92350" y="2743325"/>
            <a:ext cx="3373850" cy="2006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29"/>
          <p:cNvSpPr/>
          <p:nvPr/>
        </p:nvSpPr>
        <p:spPr>
          <a:xfrm>
            <a:off x="713225" y="2084275"/>
            <a:ext cx="837300" cy="837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dk2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200025" rotWithShape="0" algn="bl" dir="7680000" dist="76200">
              <a:schemeClr val="accent3">
                <a:alpha val="6275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229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229"/>
          <p:cNvSpPr txBox="1"/>
          <p:nvPr>
            <p:ph type="title"/>
          </p:nvPr>
        </p:nvSpPr>
        <p:spPr>
          <a:xfrm>
            <a:off x="1767350" y="2103750"/>
            <a:ext cx="56604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r>
              <a:rPr lang="fr" sz="3300"/>
              <a:t>Fairness</a:t>
            </a:r>
            <a:r>
              <a:rPr lang="fr" sz="3300"/>
              <a:t> and Conclusion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6900"/>
          </a:p>
        </p:txBody>
      </p:sp>
      <p:sp>
        <p:nvSpPr>
          <p:cNvPr id="1988" name="Google Shape;1988;p229"/>
          <p:cNvSpPr txBox="1"/>
          <p:nvPr>
            <p:ph idx="1" type="subTitle"/>
          </p:nvPr>
        </p:nvSpPr>
        <p:spPr>
          <a:xfrm>
            <a:off x="1767350" y="2749372"/>
            <a:ext cx="35118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fr"/>
              <a:t>Challenges &amp; Solutions</a:t>
            </a:r>
            <a:br>
              <a:rPr lang="fr"/>
            </a:br>
            <a:r>
              <a:rPr lang="fr"/>
              <a:t>Conclusion &amp; Takeaways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9" name="Google Shape;1989;p229"/>
          <p:cNvSpPr txBox="1"/>
          <p:nvPr>
            <p:ph idx="2" type="title"/>
          </p:nvPr>
        </p:nvSpPr>
        <p:spPr>
          <a:xfrm>
            <a:off x="713225" y="2256466"/>
            <a:ext cx="837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>
                <a:solidFill>
                  <a:schemeClr val="accent4"/>
                </a:solidFill>
              </a:rPr>
              <a:t>04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990" name="Google Shape;1990;p229"/>
          <p:cNvSpPr/>
          <p:nvPr/>
        </p:nvSpPr>
        <p:spPr>
          <a:xfrm flipH="1">
            <a:off x="6923396" y="3184061"/>
            <a:ext cx="336704" cy="336704"/>
          </a:xfrm>
          <a:custGeom>
            <a:rect b="b" l="l" r="r" t="t"/>
            <a:pathLst>
              <a:path extrusionOk="0" h="18587" w="18587">
                <a:moveTo>
                  <a:pt x="10522" y="4265"/>
                </a:moveTo>
                <a:lnTo>
                  <a:pt x="5493" y="9294"/>
                </a:lnTo>
                <a:lnTo>
                  <a:pt x="10522" y="14300"/>
                </a:lnTo>
                <a:lnTo>
                  <a:pt x="11542" y="13280"/>
                </a:lnTo>
                <a:lnTo>
                  <a:pt x="7556" y="9294"/>
                </a:lnTo>
                <a:lnTo>
                  <a:pt x="11542" y="5284"/>
                </a:lnTo>
                <a:lnTo>
                  <a:pt x="10522" y="4265"/>
                </a:lnTo>
                <a:close/>
                <a:moveTo>
                  <a:pt x="9294" y="1437"/>
                </a:moveTo>
                <a:cubicBezTo>
                  <a:pt x="13604" y="1437"/>
                  <a:pt x="17127" y="4960"/>
                  <a:pt x="17127" y="9294"/>
                </a:cubicBezTo>
                <a:cubicBezTo>
                  <a:pt x="17127" y="13604"/>
                  <a:pt x="13604" y="17127"/>
                  <a:pt x="9294" y="17127"/>
                </a:cubicBezTo>
                <a:cubicBezTo>
                  <a:pt x="4960" y="17127"/>
                  <a:pt x="1437" y="13604"/>
                  <a:pt x="1437" y="9294"/>
                </a:cubicBezTo>
                <a:cubicBezTo>
                  <a:pt x="1437" y="4960"/>
                  <a:pt x="4960" y="1437"/>
                  <a:pt x="9294" y="1437"/>
                </a:cubicBezTo>
                <a:close/>
                <a:moveTo>
                  <a:pt x="9294" y="0"/>
                </a:moveTo>
                <a:cubicBezTo>
                  <a:pt x="6814" y="0"/>
                  <a:pt x="4473" y="951"/>
                  <a:pt x="2712" y="2712"/>
                </a:cubicBezTo>
                <a:cubicBezTo>
                  <a:pt x="951" y="4473"/>
                  <a:pt x="0" y="6814"/>
                  <a:pt x="0" y="9294"/>
                </a:cubicBezTo>
                <a:cubicBezTo>
                  <a:pt x="0" y="11773"/>
                  <a:pt x="951" y="14114"/>
                  <a:pt x="2712" y="15852"/>
                </a:cubicBezTo>
                <a:cubicBezTo>
                  <a:pt x="4473" y="17614"/>
                  <a:pt x="6814" y="18587"/>
                  <a:pt x="9294" y="18587"/>
                </a:cubicBezTo>
                <a:cubicBezTo>
                  <a:pt x="11773" y="18587"/>
                  <a:pt x="14114" y="17614"/>
                  <a:pt x="15852" y="15852"/>
                </a:cubicBezTo>
                <a:cubicBezTo>
                  <a:pt x="17614" y="14114"/>
                  <a:pt x="18587" y="11773"/>
                  <a:pt x="18587" y="9294"/>
                </a:cubicBezTo>
                <a:cubicBezTo>
                  <a:pt x="18587" y="6814"/>
                  <a:pt x="17614" y="4473"/>
                  <a:pt x="15852" y="2712"/>
                </a:cubicBezTo>
                <a:cubicBezTo>
                  <a:pt x="14114" y="951"/>
                  <a:pt x="11773" y="0"/>
                  <a:pt x="92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229"/>
          <p:cNvSpPr/>
          <p:nvPr/>
        </p:nvSpPr>
        <p:spPr>
          <a:xfrm>
            <a:off x="7191450" y="2234738"/>
            <a:ext cx="336723" cy="337013"/>
          </a:xfrm>
          <a:custGeom>
            <a:rect b="b" l="l" r="r" t="t"/>
            <a:pathLst>
              <a:path extrusionOk="0" h="18581" w="18565">
                <a:moveTo>
                  <a:pt x="15647" y="1454"/>
                </a:moveTo>
                <a:cubicBezTo>
                  <a:pt x="16021" y="1454"/>
                  <a:pt x="16397" y="1593"/>
                  <a:pt x="16687" y="1871"/>
                </a:cubicBezTo>
                <a:cubicBezTo>
                  <a:pt x="16942" y="2150"/>
                  <a:pt x="17104" y="2520"/>
                  <a:pt x="17104" y="2891"/>
                </a:cubicBezTo>
                <a:cubicBezTo>
                  <a:pt x="17104" y="3285"/>
                  <a:pt x="16965" y="3656"/>
                  <a:pt x="16687" y="3934"/>
                </a:cubicBezTo>
                <a:lnTo>
                  <a:pt x="5331" y="15336"/>
                </a:lnTo>
                <a:lnTo>
                  <a:pt x="3268" y="13274"/>
                </a:lnTo>
                <a:lnTo>
                  <a:pt x="11055" y="5464"/>
                </a:lnTo>
                <a:lnTo>
                  <a:pt x="12237" y="6646"/>
                </a:lnTo>
                <a:lnTo>
                  <a:pt x="13257" y="5626"/>
                </a:lnTo>
                <a:lnTo>
                  <a:pt x="12075" y="4444"/>
                </a:lnTo>
                <a:lnTo>
                  <a:pt x="13164" y="3331"/>
                </a:lnTo>
                <a:lnTo>
                  <a:pt x="14369" y="4513"/>
                </a:lnTo>
                <a:lnTo>
                  <a:pt x="15389" y="3494"/>
                </a:lnTo>
                <a:lnTo>
                  <a:pt x="14184" y="2312"/>
                </a:lnTo>
                <a:lnTo>
                  <a:pt x="14624" y="1871"/>
                </a:lnTo>
                <a:cubicBezTo>
                  <a:pt x="14902" y="1593"/>
                  <a:pt x="15273" y="1454"/>
                  <a:pt x="15647" y="1454"/>
                </a:cubicBezTo>
                <a:close/>
                <a:moveTo>
                  <a:pt x="2411" y="14479"/>
                </a:moveTo>
                <a:lnTo>
                  <a:pt x="4103" y="16171"/>
                </a:lnTo>
                <a:lnTo>
                  <a:pt x="2550" y="16518"/>
                </a:lnTo>
                <a:lnTo>
                  <a:pt x="2063" y="16031"/>
                </a:lnTo>
                <a:lnTo>
                  <a:pt x="2411" y="14479"/>
                </a:lnTo>
                <a:close/>
                <a:moveTo>
                  <a:pt x="15647" y="0"/>
                </a:moveTo>
                <a:cubicBezTo>
                  <a:pt x="14902" y="0"/>
                  <a:pt x="14161" y="284"/>
                  <a:pt x="13605" y="852"/>
                </a:cubicBezTo>
                <a:lnTo>
                  <a:pt x="1901" y="12602"/>
                </a:lnTo>
                <a:cubicBezTo>
                  <a:pt x="1507" y="12972"/>
                  <a:pt x="1229" y="13459"/>
                  <a:pt x="1044" y="13946"/>
                </a:cubicBezTo>
                <a:lnTo>
                  <a:pt x="1044" y="13992"/>
                </a:lnTo>
                <a:lnTo>
                  <a:pt x="1" y="18581"/>
                </a:lnTo>
                <a:lnTo>
                  <a:pt x="4613" y="17561"/>
                </a:lnTo>
                <a:lnTo>
                  <a:pt x="4636" y="17538"/>
                </a:lnTo>
                <a:cubicBezTo>
                  <a:pt x="5146" y="17376"/>
                  <a:pt x="5632" y="17074"/>
                  <a:pt x="6003" y="16704"/>
                </a:cubicBezTo>
                <a:lnTo>
                  <a:pt x="17707" y="4954"/>
                </a:lnTo>
                <a:cubicBezTo>
                  <a:pt x="18263" y="4398"/>
                  <a:pt x="18564" y="3679"/>
                  <a:pt x="18564" y="2891"/>
                </a:cubicBezTo>
                <a:cubicBezTo>
                  <a:pt x="18564" y="2126"/>
                  <a:pt x="18263" y="1385"/>
                  <a:pt x="17707" y="852"/>
                </a:cubicBezTo>
                <a:cubicBezTo>
                  <a:pt x="17139" y="284"/>
                  <a:pt x="16391" y="0"/>
                  <a:pt x="15647" y="0"/>
                </a:cubicBezTo>
                <a:close/>
                <a:moveTo>
                  <a:pt x="7625" y="17121"/>
                </a:moveTo>
                <a:lnTo>
                  <a:pt x="6189" y="18581"/>
                </a:lnTo>
                <a:lnTo>
                  <a:pt x="18564" y="18581"/>
                </a:lnTo>
                <a:lnTo>
                  <a:pt x="18564" y="171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229"/>
          <p:cNvSpPr/>
          <p:nvPr/>
        </p:nvSpPr>
        <p:spPr>
          <a:xfrm>
            <a:off x="8019150" y="4013775"/>
            <a:ext cx="702900" cy="624000"/>
          </a:xfrm>
          <a:prstGeom prst="roundRect">
            <a:avLst>
              <a:gd fmla="val 2340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229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4" name="Google Shape;1994;p229">
            <a:hlinkClick action="ppaction://hlinksldjump" r:id="rId5"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5" name="Google Shape;1995;p229">
            <a:hlinkClick action="ppaction://hlinksldjump" r:id="rId7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6" name="Google Shape;1996;p229">
            <a:hlinkClick action="ppaction://hlinksldjump" r:id="rId9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997" name="Google Shape;1997;p229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8" name="Google Shape;1998;p229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</a:t>
            </a: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99" name="Google Shape;1999;p2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00" name="Google Shape;2000;p229" title="HEC_Paris.svg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230"/>
          <p:cNvSpPr txBox="1"/>
          <p:nvPr>
            <p:ph type="title"/>
          </p:nvPr>
        </p:nvSpPr>
        <p:spPr>
          <a:xfrm>
            <a:off x="2017650" y="426075"/>
            <a:ext cx="5108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Fairness Assessment (Ethnicity)</a:t>
            </a:r>
            <a:endParaRPr sz="2300"/>
          </a:p>
        </p:txBody>
      </p:sp>
      <p:sp>
        <p:nvSpPr>
          <p:cNvPr id="2006" name="Google Shape;2006;p2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07" name="Google Shape;2007;p230"/>
          <p:cNvSpPr txBox="1"/>
          <p:nvPr/>
        </p:nvSpPr>
        <p:spPr>
          <a:xfrm>
            <a:off x="1299750" y="952575"/>
            <a:ext cx="58266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Grouped Pct_afro_american into 4 quantiles per period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Audited at deployed threshold </a:t>
            </a: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0.78</a:t>
            </a: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(selection rate = reject rate)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80% rule: 2016 ratio 0.794 (borderline fail); 2019–20 ratio 0.595 (clear fail)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2008" name="Google Shape;2008;p230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9" name="Google Shape;2009;p230" title="step9_fairness_selection_rate_20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950" y="2127950"/>
            <a:ext cx="3573325" cy="221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230" title="step9_fairness_selection_rate_2019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264" y="2127950"/>
            <a:ext cx="3617613" cy="2238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230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230">
            <a:hlinkClick action="ppaction://hlinksldjump" r:id="rId6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3" name="Google Shape;2013;p230">
            <a:hlinkClick action="ppaction://hlinksldjump" r:id="rId8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4" name="Google Shape;2014;p230">
            <a:hlinkClick action="ppaction://hlinksldjump" r:id="rId10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5" name="Google Shape;2015;p230"/>
          <p:cNvSpPr/>
          <p:nvPr/>
        </p:nvSpPr>
        <p:spPr>
          <a:xfrm>
            <a:off x="8004450" y="4013775"/>
            <a:ext cx="747000" cy="624000"/>
          </a:xfrm>
          <a:prstGeom prst="roundRect">
            <a:avLst>
              <a:gd fmla="val 2340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b="1" lang="fr" sz="3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04</a:t>
            </a:r>
            <a:endParaRPr b="1" sz="3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31"/>
          <p:cNvSpPr txBox="1"/>
          <p:nvPr>
            <p:ph type="title"/>
          </p:nvPr>
        </p:nvSpPr>
        <p:spPr>
          <a:xfrm>
            <a:off x="2808575" y="426075"/>
            <a:ext cx="2829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900"/>
              <a:buFont typeface="Arial"/>
              <a:buNone/>
            </a:pPr>
            <a:r>
              <a:rPr lang="fr" sz="2300"/>
              <a:t>Key Insights</a:t>
            </a:r>
            <a:endParaRPr sz="2300"/>
          </a:p>
        </p:txBody>
      </p:sp>
      <p:sp>
        <p:nvSpPr>
          <p:cNvPr id="2021" name="Google Shape;2021;p2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22" name="Google Shape;2022;p231"/>
          <p:cNvSpPr txBox="1"/>
          <p:nvPr/>
        </p:nvSpPr>
        <p:spPr>
          <a:xfrm>
            <a:off x="1142175" y="952575"/>
            <a:ext cx="58266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AUC stable across groups in both periods (≈0.71–0.73): similar ranking quality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Error rates rise with higher % African American:</a:t>
            </a:r>
            <a:r>
              <a:rPr b="1"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Equalized Odds not satisfied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</a:pPr>
            <a:r>
              <a:rPr lang="fr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80% rule (selection-rate ratio) fails and worsens over time: 2016 = 0.794, 2019–20 = 0.595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2023" name="Google Shape;2023;p231" title="HEC_Paris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231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231">
            <a:hlinkClick action="ppaction://hlinksldjump" r:id="rId4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6" name="Google Shape;2026;p231">
            <a:hlinkClick action="ppaction://hlinksldjump" r:id="rId6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7" name="Google Shape;2027;p231">
            <a:hlinkClick action="ppaction://hlinksldjump" r:id="rId8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28" name="Google Shape;2028;p231"/>
          <p:cNvSpPr/>
          <p:nvPr/>
        </p:nvSpPr>
        <p:spPr>
          <a:xfrm>
            <a:off x="8004450" y="4013775"/>
            <a:ext cx="747000" cy="624000"/>
          </a:xfrm>
          <a:prstGeom prst="roundRect">
            <a:avLst>
              <a:gd fmla="val 2340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b="1" lang="fr" sz="3200">
                <a:solidFill>
                  <a:schemeClr val="dk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b="1" lang="fr" sz="3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4</a:t>
            </a:r>
            <a:endParaRPr b="1" sz="3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029" name="Google Shape;2029;p231" title="step9_fairness_tpr_fpr_201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5735" y="2024775"/>
            <a:ext cx="3599176" cy="222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231" title="step9_fairness_tpr_fpr_2019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52082" y="2024775"/>
            <a:ext cx="3599160" cy="222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32"/>
          <p:cNvSpPr/>
          <p:nvPr/>
        </p:nvSpPr>
        <p:spPr>
          <a:xfrm>
            <a:off x="8138263" y="641694"/>
            <a:ext cx="464675" cy="465250"/>
          </a:xfrm>
          <a:custGeom>
            <a:rect b="b" l="l" r="r" t="t"/>
            <a:pathLst>
              <a:path extrusionOk="0" h="18610" w="18587">
                <a:moveTo>
                  <a:pt x="5307" y="5678"/>
                </a:moveTo>
                <a:lnTo>
                  <a:pt x="5307" y="7115"/>
                </a:lnTo>
                <a:lnTo>
                  <a:pt x="13280" y="7115"/>
                </a:lnTo>
                <a:lnTo>
                  <a:pt x="13280" y="5678"/>
                </a:lnTo>
                <a:close/>
                <a:moveTo>
                  <a:pt x="5307" y="8575"/>
                </a:moveTo>
                <a:lnTo>
                  <a:pt x="5307" y="10035"/>
                </a:lnTo>
                <a:lnTo>
                  <a:pt x="13280" y="10035"/>
                </a:lnTo>
                <a:lnTo>
                  <a:pt x="13280" y="8575"/>
                </a:lnTo>
                <a:close/>
                <a:moveTo>
                  <a:pt x="5307" y="11472"/>
                </a:moveTo>
                <a:lnTo>
                  <a:pt x="5307" y="12932"/>
                </a:lnTo>
                <a:lnTo>
                  <a:pt x="13280" y="12932"/>
                </a:lnTo>
                <a:lnTo>
                  <a:pt x="13280" y="11472"/>
                </a:lnTo>
                <a:close/>
                <a:moveTo>
                  <a:pt x="9294" y="1460"/>
                </a:moveTo>
                <a:cubicBezTo>
                  <a:pt x="13627" y="1460"/>
                  <a:pt x="17127" y="4983"/>
                  <a:pt x="17127" y="9316"/>
                </a:cubicBezTo>
                <a:cubicBezTo>
                  <a:pt x="17127" y="13627"/>
                  <a:pt x="13627" y="17150"/>
                  <a:pt x="9294" y="17150"/>
                </a:cubicBezTo>
                <a:cubicBezTo>
                  <a:pt x="4960" y="17150"/>
                  <a:pt x="1437" y="13627"/>
                  <a:pt x="1437" y="9316"/>
                </a:cubicBezTo>
                <a:cubicBezTo>
                  <a:pt x="1437" y="4983"/>
                  <a:pt x="4960" y="1460"/>
                  <a:pt x="9294" y="1460"/>
                </a:cubicBezTo>
                <a:close/>
                <a:moveTo>
                  <a:pt x="9294" y="0"/>
                </a:moveTo>
                <a:cubicBezTo>
                  <a:pt x="6814" y="0"/>
                  <a:pt x="4473" y="973"/>
                  <a:pt x="2712" y="2735"/>
                </a:cubicBezTo>
                <a:cubicBezTo>
                  <a:pt x="974" y="4496"/>
                  <a:pt x="0" y="6814"/>
                  <a:pt x="0" y="9293"/>
                </a:cubicBezTo>
                <a:cubicBezTo>
                  <a:pt x="0" y="11796"/>
                  <a:pt x="974" y="14114"/>
                  <a:pt x="2712" y="15875"/>
                </a:cubicBezTo>
                <a:cubicBezTo>
                  <a:pt x="4473" y="17636"/>
                  <a:pt x="6814" y="18610"/>
                  <a:pt x="9294" y="18610"/>
                </a:cubicBezTo>
                <a:cubicBezTo>
                  <a:pt x="11773" y="18610"/>
                  <a:pt x="14114" y="17636"/>
                  <a:pt x="15875" y="15875"/>
                </a:cubicBezTo>
                <a:cubicBezTo>
                  <a:pt x="17613" y="14114"/>
                  <a:pt x="18587" y="11796"/>
                  <a:pt x="18587" y="9293"/>
                </a:cubicBezTo>
                <a:cubicBezTo>
                  <a:pt x="18587" y="6814"/>
                  <a:pt x="17613" y="4496"/>
                  <a:pt x="15875" y="2735"/>
                </a:cubicBezTo>
                <a:cubicBezTo>
                  <a:pt x="14114" y="973"/>
                  <a:pt x="11773" y="0"/>
                  <a:pt x="9294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232">
            <a:hlinkClick action="ppaction://hlinksldjump" r:id="rId3"/>
          </p:cNvPr>
          <p:cNvSpPr txBox="1"/>
          <p:nvPr/>
        </p:nvSpPr>
        <p:spPr>
          <a:xfrm>
            <a:off x="8004450" y="1488072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6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b="1" i="0" sz="3200" u="none" cap="none" strike="noStrike">
              <a:solidFill>
                <a:schemeClr val="accent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7" name="Google Shape;2037;p232">
            <a:hlinkClick action="ppaction://hlinksldjump" r:id="rId5"/>
          </p:cNvPr>
          <p:cNvSpPr txBox="1"/>
          <p:nvPr/>
        </p:nvSpPr>
        <p:spPr>
          <a:xfrm>
            <a:off x="8004450" y="3215678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1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03</a:t>
            </a:r>
            <a:endParaRPr b="1" i="0" sz="320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8" name="Google Shape;2038;p232">
            <a:hlinkClick action="ppaction://hlinksldjump" r:id="rId7"/>
          </p:cNvPr>
          <p:cNvSpPr txBox="1"/>
          <p:nvPr/>
        </p:nvSpPr>
        <p:spPr>
          <a:xfrm>
            <a:off x="8004450" y="2351875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l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b="1" i="0" sz="32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039" name="Google Shape;2039;p232"/>
          <p:cNvCxnSpPr/>
          <p:nvPr/>
        </p:nvCxnSpPr>
        <p:spPr>
          <a:xfrm>
            <a:off x="713225" y="789025"/>
            <a:ext cx="67146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0" name="Google Shape;2040;p232"/>
          <p:cNvSpPr txBox="1"/>
          <p:nvPr/>
        </p:nvSpPr>
        <p:spPr>
          <a:xfrm>
            <a:off x="713225" y="539500"/>
            <a:ext cx="45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September</a:t>
            </a:r>
            <a:r>
              <a:rPr lang="fr" sz="1500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rPr>
              <a:t>-2025</a:t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accent3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1" name="Google Shape;2041;p2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42" name="Google Shape;2042;p232">
            <a:hlinkClick/>
          </p:cNvPr>
          <p:cNvSpPr txBox="1"/>
          <p:nvPr/>
        </p:nvSpPr>
        <p:spPr>
          <a:xfrm>
            <a:off x="8004450" y="4079481"/>
            <a:ext cx="7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04</a:t>
            </a:r>
            <a:endParaRPr b="1" i="0" sz="3200" u="none" cap="none" strike="noStrike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3" name="Google Shape;2043;p232"/>
          <p:cNvSpPr txBox="1"/>
          <p:nvPr>
            <p:ph type="title"/>
          </p:nvPr>
        </p:nvSpPr>
        <p:spPr>
          <a:xfrm>
            <a:off x="612950" y="828900"/>
            <a:ext cx="6148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r>
              <a:rPr lang="fr" sz="3300"/>
              <a:t>FPDP using equality of opportunity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300"/>
              <a:buFont typeface="Arial"/>
              <a:buNone/>
            </a:pPr>
            <a:r>
              <a:t/>
            </a:r>
            <a:endParaRPr sz="3300"/>
          </a:p>
        </p:txBody>
      </p:sp>
      <p:pic>
        <p:nvPicPr>
          <p:cNvPr id="2044" name="Google Shape;2044;p232" title="HEC_Paris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675" y="4366001"/>
            <a:ext cx="732300" cy="3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2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8300" y="1980675"/>
            <a:ext cx="2968793" cy="225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2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56974" y="1951212"/>
            <a:ext cx="3337601" cy="23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Project Tasks and To-Do Lists for Business by Slidesgo">
  <a:themeElements>
    <a:clrScheme name="Simple Light">
      <a:dk1>
        <a:srgbClr val="212428"/>
      </a:dk1>
      <a:lt1>
        <a:srgbClr val="E7E9F6"/>
      </a:lt1>
      <a:dk2>
        <a:srgbClr val="A264E3"/>
      </a:dk2>
      <a:lt2>
        <a:srgbClr val="43C9DC"/>
      </a:lt2>
      <a:accent1>
        <a:srgbClr val="F4AA1D"/>
      </a:accent1>
      <a:accent2>
        <a:srgbClr val="F35D35"/>
      </a:accent2>
      <a:accent3>
        <a:srgbClr val="C7CCE2"/>
      </a:accent3>
      <a:accent4>
        <a:srgbClr val="FFFFFF"/>
      </a:accent4>
      <a:accent5>
        <a:srgbClr val="703DBF"/>
      </a:accent5>
      <a:accent6>
        <a:srgbClr val="60D9A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