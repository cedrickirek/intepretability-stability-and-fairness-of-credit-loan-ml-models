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5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6.xml" ContentType="application/vnd.openxmlformats-officedocument.theme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7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8.xml" ContentType="application/vnd.openxmlformats-officedocument.theme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9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theme/theme10.xml" ContentType="application/vnd.openxmlformats-officedocument.theme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50" r:id="rId1"/>
    <p:sldMasterId id="2147483851" r:id="rId2"/>
    <p:sldMasterId id="2147483852" r:id="rId3"/>
    <p:sldMasterId id="2147483853" r:id="rId4"/>
    <p:sldMasterId id="2147483854" r:id="rId5"/>
    <p:sldMasterId id="2147483855" r:id="rId6"/>
    <p:sldMasterId id="2147483856" r:id="rId7"/>
    <p:sldMasterId id="2147483857" r:id="rId8"/>
    <p:sldMasterId id="2147483858" r:id="rId9"/>
    <p:sldMasterId id="2147483859" r:id="rId10"/>
    <p:sldMasterId id="2147483860" r:id="rId11"/>
  </p:sldMasterIdLst>
  <p:notesMasterIdLst>
    <p:notesMasterId r:id="rId32"/>
  </p:notesMasterIdLst>
  <p:sldIdLst>
    <p:sldId id="256" r:id="rId12"/>
    <p:sldId id="257" r:id="rId13"/>
    <p:sldId id="258" r:id="rId14"/>
    <p:sldId id="275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33"/>
    </p:embeddedFont>
    <p:embeddedFont>
      <p:font typeface="Questrial" pitchFamily="2" charset="0"/>
      <p:regular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edric Emmanuel KIR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9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commentAuthors" Target="commentAuthors.xml"/><Relationship Id="rId21" Type="http://schemas.openxmlformats.org/officeDocument/2006/relationships/slide" Target="slides/slide1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font" Target="fonts/font4.fntdata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9-28T22:53:52.939" idx="1">
    <p:pos x="2856" y="986"/>
    <p:text>what I was suggesting on the previous slide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38440d559e2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9" name="Google Shape;1649;g38440d559e2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38440d559e2_1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0" name="Google Shape;1670;g38440d559e2_1_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jbkjgkkhlknl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38440d559e2_1_1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9" name="Google Shape;1699;g38440d559e2_1_1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>
          <a:extLst>
            <a:ext uri="{FF2B5EF4-FFF2-40B4-BE49-F238E27FC236}">
              <a16:creationId xmlns:a16="http://schemas.microsoft.com/office/drawing/2014/main" id="{D201284F-45DD-6BC2-6E87-7F141F7B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8470693543_2_33:notes">
            <a:extLst>
              <a:ext uri="{FF2B5EF4-FFF2-40B4-BE49-F238E27FC236}">
                <a16:creationId xmlns:a16="http://schemas.microsoft.com/office/drawing/2014/main" id="{56B35BAA-4B27-2B83-1F10-307B9C3AE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4" name="Google Shape;1744;g38470693543_2_33:notes">
            <a:extLst>
              <a:ext uri="{FF2B5EF4-FFF2-40B4-BE49-F238E27FC236}">
                <a16:creationId xmlns:a16="http://schemas.microsoft.com/office/drawing/2014/main" id="{CB84B8B1-3B9B-236D-8136-13E85C513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319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8440d559e2_1_2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9" name="Google Shape;1719;g38440d559e2_1_2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8470693543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4" name="Google Shape;1744;g38470693543_2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38440d559e2_1_1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0" name="Google Shape;1770;g38440d559e2_1_1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38440d559e2_1_2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9" name="Google Shape;1789;g38440d559e2_1_2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38485d93f4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5" name="Google Shape;1805;g38485d93f4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38470693543_2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4" name="Google Shape;1824;g38470693543_2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38440d559e2_1_1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5" name="Google Shape;1845;g38440d559e2_1_1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8440d559e2_1_2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3" name="Google Shape;1863;g38440d559e2_1_2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384979ba6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2" name="Google Shape;1882;g384979ba6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38485d93f42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0" name="Google Shape;1900;g38485d93f42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Instance 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income=</a:t>
            </a:r>
            <a:r>
              <a:rPr lang="fr" sz="1050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rate=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12.99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%, grade=C2, target=Good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Instance 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323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income=</a:t>
            </a:r>
            <a:r>
              <a:rPr lang="fr" sz="1050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rate=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19.99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%, grade=E1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Instance 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198868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income=</a:t>
            </a:r>
            <a:r>
              <a:rPr lang="fr" sz="1050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rate=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15.99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%, grade=C5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Instance 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141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income=</a:t>
            </a:r>
            <a:r>
              <a:rPr lang="fr" sz="1050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56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rate=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19.99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%, grade=E1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38485d93f42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3" name="Google Shape;1933;g38485d93f42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3847069354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6" name="Google Shape;1966;g3847069354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38440d559e2_1_3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3" name="Google Shape;1983;g38440d559e2_1_3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38470693543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3" name="Google Shape;2003;g38470693543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38470693543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8" name="Google Shape;2018;g38470693543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38440d559e2_1_3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3" name="Google Shape;2033;g38440d559e2_1_3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ajouter ce qui est fait, les limites, et les ameliorations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freepik.com/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freepik.com/" TargetMode="Externa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4.xml"/><Relationship Id="rId4" Type="http://schemas.openxmlformats.org/officeDocument/2006/relationships/hyperlink" Target="https://freepik.com/" TargetMode="Externa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5.xml"/><Relationship Id="rId4" Type="http://schemas.openxmlformats.org/officeDocument/2006/relationships/hyperlink" Target="https://freepik.com/" TargetMode="Externa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freepik.com/" TargetMode="Externa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7.xml"/><Relationship Id="rId4" Type="http://schemas.openxmlformats.org/officeDocument/2006/relationships/hyperlink" Target="https://freepik.com/" TargetMode="Externa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8.xml"/><Relationship Id="rId4" Type="http://schemas.openxmlformats.org/officeDocument/2006/relationships/hyperlink" Target="https://freepik.com/" TargetMode="Externa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freepik.com/" TargetMode="Externa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0.xml"/><Relationship Id="rId4" Type="http://schemas.openxmlformats.org/officeDocument/2006/relationships/hyperlink" Target="https://freepik.com/" TargetMode="Externa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1.xml"/><Relationship Id="rId4" Type="http://schemas.openxmlformats.org/officeDocument/2006/relationships/hyperlink" Target="https://freepik.com/" TargetMode="Externa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1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3" name="Google Shape;53;p1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4" name="Google Shape;64;p1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2" name="Google Shape;72;p1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1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9" name="Google Shape;79;p1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8" name="Google Shape;98;p1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4" name="Google Shape;104;p1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1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9" name="Google Shape;109;p1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2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8" name="Google Shape;118;p2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2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5" name="Google Shape;125;p2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2" name="Google Shape;132;p2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36" name="Google Shape;136;p2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2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2" name="Google Shape;142;p2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2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0" name="Google Shape;150;p2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2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9" name="Google Shape;159;p2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2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8" name="Google Shape;168;p2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2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76" name="Google Shape;176;p2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83" name="Google Shape;183;p2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2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91" name="Google Shape;191;p2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3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98" name="Google Shape;198;p3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3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1" name="Google Shape;20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07" name="Google Shape;207;p3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2" name="Google Shape;212;p3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13" name="Google Shape;213;p3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3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23" name="Google Shape;223;p3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3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6" name="Google Shape;226;p3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27" name="Google Shape;227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3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31" name="Google Shape;231;p3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3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3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38" name="Google Shape;238;p3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3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43" name="Google Shape;243;p3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44" name="Google Shape;244;p3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46" name="Google Shape;246;p3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47" name="Google Shape;247;p3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49" name="Google Shape;249;p3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53" name="Google Shape;253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3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57" name="Google Shape;257;p3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3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61" name="Google Shape;261;p3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62" name="Google Shape;262;p3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63" name="Google Shape;263;p3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3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68" name="Google Shape;268;p3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3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271" name="Google Shape;271;p3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72" name="Google Shape;272;p3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73" name="Google Shape;273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" name="Google Shape;276;p4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77" name="Google Shape;277;p4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4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4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84" name="Google Shape;284;p4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p4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4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91" name="Google Shape;291;p4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4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94" name="Google Shape;294;p4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95" name="Google Shape;295;p4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296" name="Google Shape;296;p4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297" name="Google Shape;297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4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01" name="Google Shape;301;p4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4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4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5" name="Google Shape;305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4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09" name="Google Shape;309;p4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p4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4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4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4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18" name="Google Shape;318;p4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4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2" name="Google Shape;322;p4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3" name="Google Shape;323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4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27" name="Google Shape;327;p4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4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" name="Google Shape;330;p4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1" name="Google Shape;331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p4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35" name="Google Shape;335;p4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7" name="Google Shape;337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8" name="Google Shape;338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1" name="Google Shape;341;p4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42" name="Google Shape;342;p4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" name="Google Shape;344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5" name="Google Shape;345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6" name="Google Shape;346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9" name="Google Shape;349;p4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50" name="Google Shape;350;p4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4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" name="Google Shape;356;p5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57" name="Google Shape;357;p5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p5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5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66" name="Google Shape;366;p5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5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72" name="Google Shape;372;p5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5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5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82" name="Google Shape;382;p5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4" name="Google Shape;384;p5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85" name="Google Shape;385;p5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386" name="Google Shape;386;p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5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90" name="Google Shape;390;p5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5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5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97" name="Google Shape;397;p5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9" name="Google Shape;399;p5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5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5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02" name="Google Shape;402;p5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03" name="Google Shape;403;p5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5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05" name="Google Shape;405;p5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06" name="Google Shape;406;p5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5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08" name="Google Shape;408;p5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09" name="Google Shape;409;p5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5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11" name="Google Shape;411;p5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12" name="Google Shape;412;p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5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16" name="Google Shape;416;p5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5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419" name="Google Shape;419;p5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420" name="Google Shape;420;p5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421" name="Google Shape;421;p5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2" name="Google Shape;422;p5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5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27" name="Google Shape;427;p5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5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430" name="Google Shape;430;p5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431" name="Google Shape;431;p5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432" name="Google Shape;432;p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6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36" name="Google Shape;436;p6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6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8" name="Google Shape;438;p6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6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43" name="Google Shape;443;p6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6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5" name="Google Shape;445;p6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p6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50" name="Google Shape;450;p6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6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2" name="Google Shape;452;p6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453" name="Google Shape;453;p6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54" name="Google Shape;454;p6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455" name="Google Shape;455;p6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456" name="Google Shape;456;p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6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60" name="Google Shape;460;p6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6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2" name="Google Shape;462;p6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6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4" name="Google Shape;464;p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7" name="Google Shape;467;p6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68" name="Google Shape;468;p6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6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0" name="Google Shape;470;p6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6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2" name="Google Shape;472;p6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p6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77" name="Google Shape;477;p6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6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9" name="Google Shape;479;p6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1" name="Google Shape;481;p6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2" name="Google Shape;482;p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5" name="Google Shape;485;p6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86" name="Google Shape;486;p6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6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8" name="Google Shape;488;p6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9" name="Google Shape;489;p6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0" name="Google Shape;490;p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3" name="Google Shape;493;p6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94" name="Google Shape;494;p6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6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97" name="Google Shape;497;p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0" name="Google Shape;500;p6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01" name="Google Shape;501;p6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6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6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4" name="Google Shape;504;p6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5" name="Google Shape;505;p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" name="Google Shape;508;p6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09" name="Google Shape;509;p6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6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1" name="Google Shape;511;p6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7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16" name="Google Shape;516;p7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7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7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9" name="Google Shape;519;p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4" name="Google Shape;524;p7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25" name="Google Shape;525;p7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7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7" name="Google Shape;527;p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" name="Google Shape;530;p7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31" name="Google Shape;531;p7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7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" name="Google Shape;533;p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0" name="Google Shape;540;p7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41" name="Google Shape;541;p7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7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3" name="Google Shape;543;p7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44" name="Google Shape;544;p7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545" name="Google Shape;545;p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8" name="Google Shape;548;p7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49" name="Google Shape;549;p7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7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1" name="Google Shape;551;p7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7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56" name="Google Shape;556;p7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7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7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7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7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61" name="Google Shape;561;p7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62" name="Google Shape;562;p7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7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64" name="Google Shape;564;p7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65" name="Google Shape;565;p7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7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67" name="Google Shape;567;p7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68" name="Google Shape;568;p7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7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0" name="Google Shape;570;p7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71" name="Google Shape;571;p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4" name="Google Shape;574;p7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75" name="Google Shape;575;p7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7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7" name="Google Shape;577;p7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578" name="Google Shape;578;p7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579" name="Google Shape;579;p7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80" name="Google Shape;580;p7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81" name="Google Shape;581;p7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7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86" name="Google Shape;586;p7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7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8" name="Google Shape;588;p7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589" name="Google Shape;589;p7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590" name="Google Shape;590;p7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91" name="Google Shape;591;p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8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95" name="Google Shape;595;p8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8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8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1" name="Google Shape;601;p8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02" name="Google Shape;602;p8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8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8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8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8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09" name="Google Shape;609;p8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8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1" name="Google Shape;611;p8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612" name="Google Shape;612;p8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613" name="Google Shape;613;p8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614" name="Google Shape;614;p8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615" name="Google Shape;615;p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8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19" name="Google Shape;619;p8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8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8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8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3" name="Google Shape;623;p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" name="Google Shape;626;p8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27" name="Google Shape;627;p8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8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9" name="Google Shape;629;p8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8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1" name="Google Shape;631;p8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5" name="Google Shape;635;p8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36" name="Google Shape;636;p8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8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8" name="Google Shape;638;p8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0" name="Google Shape;640;p8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1" name="Google Shape;641;p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8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45" name="Google Shape;645;p8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8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8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48" name="Google Shape;648;p8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9" name="Google Shape;649;p8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2" name="Google Shape;652;p8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53" name="Google Shape;653;p8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8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8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56" name="Google Shape;656;p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9" name="Google Shape;659;p8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60" name="Google Shape;660;p8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8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2" name="Google Shape;662;p8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63" name="Google Shape;663;p8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64" name="Google Shape;664;p8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8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68" name="Google Shape;668;p8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8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0" name="Google Shape;670;p8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9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4" name="Google Shape;674;p9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75" name="Google Shape;675;p9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9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7" name="Google Shape;677;p9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8" name="Google Shape;678;p9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9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9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84" name="Google Shape;684;p9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9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9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9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9" name="Google Shape;689;p9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90" name="Google Shape;690;p9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9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2" name="Google Shape;692;p9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9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00" name="Google Shape;700;p9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9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2" name="Google Shape;702;p9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703" name="Google Shape;703;p9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704" name="Google Shape;704;p9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7" name="Google Shape;707;p9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08" name="Google Shape;708;p9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9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0" name="Google Shape;710;p9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11" name="Google Shape;711;p9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9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15" name="Google Shape;715;p9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9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7" name="Google Shape;717;p9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9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0" name="Google Shape;720;p9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21" name="Google Shape;721;p9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9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3" name="Google Shape;723;p9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24" name="Google Shape;724;p9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9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6" name="Google Shape;726;p9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27" name="Google Shape;727;p9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8" name="Google Shape;728;p9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9" name="Google Shape;729;p9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30" name="Google Shape;730;p9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3" name="Google Shape;733;p9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34" name="Google Shape;734;p9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9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6" name="Google Shape;736;p9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737" name="Google Shape;737;p9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738" name="Google Shape;738;p9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39" name="Google Shape;739;p9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40" name="Google Shape;740;p9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9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4" name="Google Shape;744;p9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45" name="Google Shape;745;p9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9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7" name="Google Shape;747;p9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748" name="Google Shape;748;p9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749" name="Google Shape;749;p9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50" name="Google Shape;750;p9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0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3" name="Google Shape;753;p10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54" name="Google Shape;754;p10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0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6" name="Google Shape;756;p10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57" name="Google Shape;757;p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0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0" name="Google Shape;760;p10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61" name="Google Shape;761;p10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0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3" name="Google Shape;763;p10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10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0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7" name="Google Shape;767;p10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68" name="Google Shape;768;p10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0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0" name="Google Shape;770;p10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771" name="Google Shape;771;p10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772" name="Google Shape;772;p10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773" name="Google Shape;773;p10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774" name="Google Shape;774;p10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0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7" name="Google Shape;777;p10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78" name="Google Shape;778;p10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0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0" name="Google Shape;780;p10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81" name="Google Shape;781;p10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2" name="Google Shape;782;p1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p10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86" name="Google Shape;786;p10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0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8" name="Google Shape;788;p10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10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0" name="Google Shape;790;p10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10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0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4" name="Google Shape;794;p10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95" name="Google Shape;795;p10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0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7" name="Google Shape;797;p10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10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9" name="Google Shape;799;p10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0" name="Google Shape;800;p10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3" name="Google Shape;803;p10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04" name="Google Shape;804;p10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0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6" name="Google Shape;806;p10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7" name="Google Shape;807;p10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8" name="Google Shape;808;p10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0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1" name="Google Shape;811;p10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12" name="Google Shape;812;p10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0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4" name="Google Shape;814;p10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15" name="Google Shape;815;p10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0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8" name="Google Shape;818;p10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19" name="Google Shape;819;p10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0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1" name="Google Shape;821;p10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22" name="Google Shape;822;p10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3" name="Google Shape;823;p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0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p10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27" name="Google Shape;827;p10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0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9" name="Google Shape;829;p10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30" name="Google Shape;830;p10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1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3" name="Google Shape;833;p11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34" name="Google Shape;834;p11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1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6" name="Google Shape;836;p11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7" name="Google Shape;837;p1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1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2" name="Google Shape;842;p11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43" name="Google Shape;843;p11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1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5" name="Google Shape;845;p1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1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8" name="Google Shape;848;p11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49" name="Google Shape;849;p11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1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1" name="Google Shape;851;p1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1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8" name="Google Shape;858;p11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59" name="Google Shape;859;p11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1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1" name="Google Shape;861;p11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862" name="Google Shape;862;p11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863" name="Google Shape;863;p1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1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6" name="Google Shape;866;p11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67" name="Google Shape;867;p11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1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9" name="Google Shape;869;p11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1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1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3" name="Google Shape;873;p11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74" name="Google Shape;874;p11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1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6" name="Google Shape;876;p11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11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11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79" name="Google Shape;879;p11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880" name="Google Shape;880;p11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11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82" name="Google Shape;882;p11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883" name="Google Shape;883;p11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4" name="Google Shape;884;p11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85" name="Google Shape;885;p11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886" name="Google Shape;886;p11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7" name="Google Shape;887;p11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88" name="Google Shape;888;p11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889" name="Google Shape;889;p1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1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2" name="Google Shape;892;p11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93" name="Google Shape;893;p11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1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5" name="Google Shape;895;p11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896" name="Google Shape;896;p11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897" name="Google Shape;897;p11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898" name="Google Shape;898;p11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99" name="Google Shape;899;p11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1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3" name="Google Shape;903;p11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04" name="Google Shape;904;p11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1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6" name="Google Shape;906;p11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907" name="Google Shape;907;p11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908" name="Google Shape;908;p11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909" name="Google Shape;909;p1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2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2" name="Google Shape;912;p12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13" name="Google Shape;913;p12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2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" name="Google Shape;915;p12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916" name="Google Shape;916;p1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2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9" name="Google Shape;919;p12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20" name="Google Shape;920;p12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2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2" name="Google Shape;922;p12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923" name="Google Shape;923;p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2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6" name="Google Shape;926;p12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27" name="Google Shape;927;p12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2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9" name="Google Shape;929;p12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930" name="Google Shape;930;p12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931" name="Google Shape;931;p12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932" name="Google Shape;932;p12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933" name="Google Shape;933;p1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2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6" name="Google Shape;936;p12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37" name="Google Shape;937;p12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2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9" name="Google Shape;939;p12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12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1" name="Google Shape;941;p1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2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" name="Google Shape;944;p12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45" name="Google Shape;945;p12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2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7" name="Google Shape;947;p12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948" name="Google Shape;948;p12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9" name="Google Shape;949;p12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0" name="Google Shape;950;p1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2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3" name="Google Shape;953;p12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54" name="Google Shape;954;p12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2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6" name="Google Shape;956;p12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957" name="Google Shape;957;p1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8" name="Google Shape;958;p1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9" name="Google Shape;959;p1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2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2" name="Google Shape;962;p12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63" name="Google Shape;963;p12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2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5" name="Google Shape;965;p1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6" name="Google Shape;966;p1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7" name="Google Shape;967;p1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2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0" name="Google Shape;970;p12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71" name="Google Shape;971;p12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2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3" name="Google Shape;973;p1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74" name="Google Shape;974;p1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2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7" name="Google Shape;977;p12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78" name="Google Shape;978;p12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2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0" name="Google Shape;980;p1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81" name="Google Shape;981;p1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82" name="Google Shape;982;p1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2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5" name="Google Shape;985;p12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86" name="Google Shape;986;p12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2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8" name="Google Shape;988;p12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989" name="Google Shape;989;p1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3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93" name="Google Shape;993;p13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5" name="Google Shape;995;p13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6" name="Google Shape;996;p1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3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1" name="Google Shape;1001;p13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02" name="Google Shape;1002;p13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4" name="Google Shape;1004;p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3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7" name="Google Shape;1007;p13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08" name="Google Shape;1008;p13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0" name="Google Shape;1010;p1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3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Google Shape;1017;p13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18" name="Google Shape;1018;p13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0" name="Google Shape;1020;p13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21" name="Google Shape;1021;p13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022" name="Google Shape;1022;p1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3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5" name="Google Shape;1025;p13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26" name="Google Shape;1026;p13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8" name="Google Shape;1028;p13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029" name="Google Shape;1029;p1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3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2" name="Google Shape;1032;p13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33" name="Google Shape;1033;p13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5" name="Google Shape;1035;p13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036" name="Google Shape;1036;p13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7" name="Google Shape;1037;p13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38" name="Google Shape;1038;p13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39" name="Google Shape;1039;p13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0" name="Google Shape;1040;p13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41" name="Google Shape;1041;p13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42" name="Google Shape;1042;p13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3" name="Google Shape;1043;p13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44" name="Google Shape;1044;p13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45" name="Google Shape;1045;p13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6" name="Google Shape;1046;p13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47" name="Google Shape;1047;p13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48" name="Google Shape;1048;p1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3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1" name="Google Shape;1051;p13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52" name="Google Shape;1052;p13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3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4" name="Google Shape;1054;p13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055" name="Google Shape;1055;p13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056" name="Google Shape;1056;p13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057" name="Google Shape;1057;p13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58" name="Google Shape;1058;p13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3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2" name="Google Shape;1062;p13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63" name="Google Shape;1063;p13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3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5" name="Google Shape;1065;p13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066" name="Google Shape;1066;p13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067" name="Google Shape;1067;p13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068" name="Google Shape;1068;p1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4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1" name="Google Shape;1071;p14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72" name="Google Shape;1072;p14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4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4" name="Google Shape;1074;p14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1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4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14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79" name="Google Shape;1079;p14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4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1" name="Google Shape;1081;p14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082" name="Google Shape;1082;p1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4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5" name="Google Shape;1085;p14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86" name="Google Shape;1086;p14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4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8" name="Google Shape;1088;p14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089" name="Google Shape;1089;p14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090" name="Google Shape;1090;p14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1091" name="Google Shape;1091;p14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1092" name="Google Shape;1092;p1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4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5" name="Google Shape;1095;p14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96" name="Google Shape;1096;p14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4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8" name="Google Shape;1098;p14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099" name="Google Shape;1099;p14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0" name="Google Shape;1100;p1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4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3" name="Google Shape;1103;p14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04" name="Google Shape;1104;p14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4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6" name="Google Shape;1106;p14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07" name="Google Shape;1107;p14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8" name="Google Shape;1108;p14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9" name="Google Shape;1109;p1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4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2" name="Google Shape;1112;p14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13" name="Google Shape;1113;p14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4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5" name="Google Shape;1115;p14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1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17" name="Google Shape;1117;p14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18" name="Google Shape;1118;p1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4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1" name="Google Shape;1121;p14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22" name="Google Shape;1122;p14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4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4" name="Google Shape;1124;p14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25" name="Google Shape;1125;p14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26" name="Google Shape;1126;p1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4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9" name="Google Shape;1129;p14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30" name="Google Shape;1130;p14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4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2" name="Google Shape;1132;p1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33" name="Google Shape;1133;p1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4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6" name="Google Shape;1136;p14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37" name="Google Shape;1137;p14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4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9" name="Google Shape;1139;p1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40" name="Google Shape;1140;p1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41" name="Google Shape;1141;p1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4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4" name="Google Shape;1144;p14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45" name="Google Shape;1145;p14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4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7" name="Google Shape;1147;p14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48" name="Google Shape;1148;p1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5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1" name="Google Shape;1151;p15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52" name="Google Shape;1152;p15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5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4" name="Google Shape;1154;p15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5" name="Google Shape;1155;p1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5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0" name="Google Shape;1160;p15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61" name="Google Shape;1161;p15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5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3" name="Google Shape;1163;p1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5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6" name="Google Shape;1166;p15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67" name="Google Shape;1167;p15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5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9" name="Google Shape;1169;p1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5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6" name="Google Shape;1176;p15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77" name="Google Shape;1177;p15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5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9" name="Google Shape;1179;p15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80" name="Google Shape;1180;p15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81" name="Google Shape;1181;p1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5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4" name="Google Shape;1184;p15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85" name="Google Shape;1185;p15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5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7" name="Google Shape;1187;p15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88" name="Google Shape;1188;p1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5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1" name="Google Shape;1191;p15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92" name="Google Shape;1192;p15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5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4" name="Google Shape;1194;p15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95" name="Google Shape;1195;p15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6" name="Google Shape;1196;p15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197" name="Google Shape;1197;p15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98" name="Google Shape;1198;p15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9" name="Google Shape;1199;p15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00" name="Google Shape;1200;p15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201" name="Google Shape;1201;p15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2" name="Google Shape;1202;p15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03" name="Google Shape;1203;p15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204" name="Google Shape;1204;p15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5" name="Google Shape;1205;p15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06" name="Google Shape;1206;p15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207" name="Google Shape;1207;p1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5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0" name="Google Shape;1210;p15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11" name="Google Shape;1211;p15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5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3" name="Google Shape;1213;p15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214" name="Google Shape;1214;p15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215" name="Google Shape;1215;p15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216" name="Google Shape;1216;p15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17" name="Google Shape;1217;p15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1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5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1" name="Google Shape;1221;p15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22" name="Google Shape;1222;p15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4" name="Google Shape;1224;p15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225" name="Google Shape;1225;p15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226" name="Google Shape;1226;p15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227" name="Google Shape;1227;p1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6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0" name="Google Shape;1230;p16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31" name="Google Shape;1231;p16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6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3" name="Google Shape;1233;p16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34" name="Google Shape;1234;p1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6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7" name="Google Shape;1237;p16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38" name="Google Shape;1238;p16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6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0" name="Google Shape;1240;p16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41" name="Google Shape;1241;p1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6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4" name="Google Shape;1244;p16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45" name="Google Shape;1245;p16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6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7" name="Google Shape;1247;p16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248" name="Google Shape;1248;p16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249" name="Google Shape;1249;p16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1250" name="Google Shape;1250;p16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1251" name="Google Shape;1251;p1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6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4" name="Google Shape;1254;p16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55" name="Google Shape;1255;p16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6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7" name="Google Shape;1257;p16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16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9" name="Google Shape;1259;p1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6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2" name="Google Shape;1262;p16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63" name="Google Shape;1263;p16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6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5" name="Google Shape;1265;p16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66" name="Google Shape;1266;p16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67" name="Google Shape;1267;p16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8" name="Google Shape;1268;p1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6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1" name="Google Shape;1271;p16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72" name="Google Shape;1272;p16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6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4" name="Google Shape;1274;p16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75" name="Google Shape;1275;p1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76" name="Google Shape;1276;p16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77" name="Google Shape;1277;p1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6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0" name="Google Shape;1280;p16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81" name="Google Shape;1281;p16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6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3" name="Google Shape;1283;p16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84" name="Google Shape;1284;p16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85" name="Google Shape;1285;p1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6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8" name="Google Shape;1288;p16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89" name="Google Shape;1289;p16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6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1" name="Google Shape;1291;p1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2" name="Google Shape;1292;p1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6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5" name="Google Shape;1295;p16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96" name="Google Shape;1296;p16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6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8" name="Google Shape;1298;p16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99" name="Google Shape;1299;p16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00" name="Google Shape;1300;p1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6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3" name="Google Shape;1303;p16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04" name="Google Shape;1304;p16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6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6" name="Google Shape;1306;p16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07" name="Google Shape;1307;p1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7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0" name="Google Shape;1310;p17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11" name="Google Shape;1311;p17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7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3" name="Google Shape;1313;p17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4" name="Google Shape;1314;p1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7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9" name="Google Shape;1319;p17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20" name="Google Shape;1320;p17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7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2" name="Google Shape;1322;p1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7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5" name="Google Shape;1325;p17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26" name="Google Shape;1326;p17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7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8" name="Google Shape;1328;p1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7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5" name="Google Shape;1335;p17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36" name="Google Shape;1336;p17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7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8" name="Google Shape;1338;p17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339" name="Google Shape;1339;p17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340" name="Google Shape;1340;p1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7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3" name="Google Shape;1343;p17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44" name="Google Shape;1344;p17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7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6" name="Google Shape;1346;p17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47" name="Google Shape;1347;p1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7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0" name="Google Shape;1350;p17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51" name="Google Shape;1351;p17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7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3" name="Google Shape;1353;p17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54" name="Google Shape;1354;p17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5" name="Google Shape;1355;p17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56" name="Google Shape;1356;p17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57" name="Google Shape;1357;p17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8" name="Google Shape;1358;p17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59" name="Google Shape;1359;p17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60" name="Google Shape;1360;p17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1" name="Google Shape;1361;p17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62" name="Google Shape;1362;p17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63" name="Google Shape;1363;p17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4" name="Google Shape;1364;p17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65" name="Google Shape;1365;p17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66" name="Google Shape;1366;p1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7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9" name="Google Shape;1369;p17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70" name="Google Shape;1370;p17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7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2" name="Google Shape;1372;p17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373" name="Google Shape;1373;p17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374" name="Google Shape;1374;p17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75" name="Google Shape;1375;p17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376" name="Google Shape;1376;p17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1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7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0" name="Google Shape;1380;p17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81" name="Google Shape;1381;p17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7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3" name="Google Shape;1383;p17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384" name="Google Shape;1384;p17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385" name="Google Shape;1385;p17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86" name="Google Shape;1386;p1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8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9" name="Google Shape;1389;p18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90" name="Google Shape;1390;p18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8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2" name="Google Shape;1392;p18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93" name="Google Shape;1393;p1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8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6" name="Google Shape;1396;p18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97" name="Google Shape;1397;p18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8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p18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00" name="Google Shape;1400;p18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8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3" name="Google Shape;1403;p18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04" name="Google Shape;1404;p18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8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6" name="Google Shape;1406;p18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407" name="Google Shape;1407;p18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408" name="Google Shape;1408;p18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1409" name="Google Shape;1409;p18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1410" name="Google Shape;1410;p1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8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3" name="Google Shape;1413;p18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14" name="Google Shape;1414;p18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8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6" name="Google Shape;1416;p18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17" name="Google Shape;1417;p18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18" name="Google Shape;1418;p1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8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1" name="Google Shape;1421;p18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22" name="Google Shape;1422;p18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8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4" name="Google Shape;1424;p18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25" name="Google Shape;1425;p18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6" name="Google Shape;1426;p18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7" name="Google Shape;1427;p1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8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0" name="Google Shape;1430;p18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31" name="Google Shape;1431;p18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8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3" name="Google Shape;1433;p18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34" name="Google Shape;1434;p1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35" name="Google Shape;1435;p18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36" name="Google Shape;1436;p1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8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9" name="Google Shape;1439;p18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40" name="Google Shape;1440;p18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8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2" name="Google Shape;1442;p18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43" name="Google Shape;1443;p18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44" name="Google Shape;1444;p18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8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7" name="Google Shape;1447;p18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48" name="Google Shape;1448;p18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8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0" name="Google Shape;1450;p18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51" name="Google Shape;1451;p1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8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4" name="Google Shape;1454;p18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55" name="Google Shape;1455;p18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8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7" name="Google Shape;1457;p18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58" name="Google Shape;1458;p18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59" name="Google Shape;1459;p18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8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2" name="Google Shape;1462;p18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63" name="Google Shape;1463;p18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8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5" name="Google Shape;1465;p18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66" name="Google Shape;1466;p1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9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9" name="Google Shape;1469;p19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70" name="Google Shape;1470;p19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9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2" name="Google Shape;1472;p19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73" name="Google Shape;1473;p19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9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8" name="Google Shape;1478;p19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79" name="Google Shape;1479;p19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9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1" name="Google Shape;1481;p19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9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4" name="Google Shape;1484;p19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85" name="Google Shape;1485;p19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9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7" name="Google Shape;1487;p19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9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4" name="Google Shape;1494;p19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95" name="Google Shape;1495;p19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9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7" name="Google Shape;1497;p195"/>
          <p:cNvSpPr txBox="1">
            <a:spLocks noGrp="1"/>
          </p:cNvSpPr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498" name="Google Shape;1498;p195"/>
          <p:cNvSpPr txBox="1">
            <a:spLocks noGrp="1"/>
          </p:cNvSpPr>
          <p:nvPr>
            <p:ph type="subTitle" idx="1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499" name="Google Shape;1499;p19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9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2" name="Google Shape;1502;p19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03" name="Google Shape;1503;p19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9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5" name="Google Shape;1505;p196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06" name="Google Shape;1506;p19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9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9" name="Google Shape;1509;p19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10" name="Google Shape;1510;p19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9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2" name="Google Shape;1512;p19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13" name="Google Shape;1513;p197"/>
          <p:cNvSpPr txBox="1">
            <a:spLocks noGrp="1"/>
          </p:cNvSpPr>
          <p:nvPr>
            <p:ph type="subTitle" idx="1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4" name="Google Shape;1514;p197"/>
          <p:cNvSpPr txBox="1">
            <a:spLocks noGrp="1"/>
          </p:cNvSpPr>
          <p:nvPr>
            <p:ph type="subTitle" idx="2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515" name="Google Shape;1515;p197"/>
          <p:cNvSpPr txBox="1">
            <a:spLocks noGrp="1"/>
          </p:cNvSpPr>
          <p:nvPr>
            <p:ph type="title" idx="3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16" name="Google Shape;1516;p197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7" name="Google Shape;1517;p197"/>
          <p:cNvSpPr txBox="1">
            <a:spLocks noGrp="1"/>
          </p:cNvSpPr>
          <p:nvPr>
            <p:ph type="subTitle" idx="5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518" name="Google Shape;1518;p197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19" name="Google Shape;1519;p197"/>
          <p:cNvSpPr txBox="1">
            <a:spLocks noGrp="1"/>
          </p:cNvSpPr>
          <p:nvPr>
            <p:ph type="subTitle" idx="7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0" name="Google Shape;1520;p197"/>
          <p:cNvSpPr txBox="1">
            <a:spLocks noGrp="1"/>
          </p:cNvSpPr>
          <p:nvPr>
            <p:ph type="subTitle" idx="8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521" name="Google Shape;1521;p197"/>
          <p:cNvSpPr txBox="1">
            <a:spLocks noGrp="1"/>
          </p:cNvSpPr>
          <p:nvPr>
            <p:ph type="title" idx="9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22" name="Google Shape;1522;p197"/>
          <p:cNvSpPr txBox="1">
            <a:spLocks noGrp="1"/>
          </p:cNvSpPr>
          <p:nvPr>
            <p:ph type="subTitle" idx="13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3" name="Google Shape;1523;p197"/>
          <p:cNvSpPr txBox="1">
            <a:spLocks noGrp="1"/>
          </p:cNvSpPr>
          <p:nvPr>
            <p:ph type="subTitle" idx="14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sz="2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524" name="Google Shape;1524;p197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25" name="Google Shape;1525;p19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9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8" name="Google Shape;1528;p19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29" name="Google Shape;1529;p19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9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1" name="Google Shape;1531;p198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532" name="Google Shape;1532;p198"/>
          <p:cNvSpPr txBox="1">
            <a:spLocks noGrp="1"/>
          </p:cNvSpPr>
          <p:nvPr>
            <p:ph type="subTitle" idx="1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533" name="Google Shape;1533;p198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534" name="Google Shape;1534;p19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sz="4000" b="1" i="0" u="none" strike="noStrike" cap="non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35" name="Google Shape;1535;p19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name="adj1" fmla="val 260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19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9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9" name="Google Shape;1539;p19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40" name="Google Shape;1540;p19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9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2" name="Google Shape;1542;p19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543" name="Google Shape;1543;p199"/>
          <p:cNvSpPr txBox="1">
            <a:spLocks noGrp="1"/>
          </p:cNvSpPr>
          <p:nvPr>
            <p:ph type="subTitle" idx="1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544" name="Google Shape;1544;p19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545" name="Google Shape;1545;p19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20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8" name="Google Shape;1548;p20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49" name="Google Shape;1549;p20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20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1" name="Google Shape;1551;p20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52" name="Google Shape;1552;p2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20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5" name="Google Shape;1555;p20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56" name="Google Shape;1556;p20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0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8" name="Google Shape;1558;p20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59" name="Google Shape;1559;p20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20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2" name="Google Shape;1562;p20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63" name="Google Shape;1563;p20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20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5" name="Google Shape;1565;p202"/>
          <p:cNvSpPr txBox="1">
            <a:spLocks noGrp="1"/>
          </p:cNvSpPr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566" name="Google Shape;1566;p20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3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lang="fr" sz="1300" b="1" i="0" u="none" strike="noStrike" cap="non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567" name="Google Shape;1567;p202"/>
          <p:cNvSpPr txBox="1">
            <a:spLocks noGrp="1"/>
          </p:cNvSpPr>
          <p:nvPr>
            <p:ph type="subTitle" idx="1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1568" name="Google Shape;1568;p202"/>
          <p:cNvSpPr txBox="1">
            <a:spLocks noGrp="1"/>
          </p:cNvSpPr>
          <p:nvPr>
            <p:ph type="subTitle" idx="2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1569" name="Google Shape;1569;p20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20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2" name="Google Shape;1572;p20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73" name="Google Shape;1573;p20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20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5" name="Google Shape;1575;p203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76" name="Google Shape;1576;p203"/>
          <p:cNvSpPr txBox="1">
            <a:spLocks noGrp="1"/>
          </p:cNvSpPr>
          <p:nvPr>
            <p:ph type="body" idx="1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77" name="Google Shape;1577;p2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20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0" name="Google Shape;1580;p20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81" name="Google Shape;1581;p20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20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3" name="Google Shape;1583;p20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84" name="Google Shape;1584;p204"/>
          <p:cNvSpPr txBox="1">
            <a:spLocks noGrp="1"/>
          </p:cNvSpPr>
          <p:nvPr>
            <p:ph type="body" idx="1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5" name="Google Shape;1585;p204"/>
          <p:cNvSpPr txBox="1">
            <a:spLocks noGrp="1"/>
          </p:cNvSpPr>
          <p:nvPr>
            <p:ph type="subTitle" idx="2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6" name="Google Shape;1586;p20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20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9" name="Google Shape;1589;p20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90" name="Google Shape;1590;p20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20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2" name="Google Shape;1592;p20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93" name="Google Shape;1593;p20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94" name="Google Shape;1594;p20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95" name="Google Shape;1595;p20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20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8" name="Google Shape;1598;p20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99" name="Google Shape;1599;p20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20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1" name="Google Shape;1601;p20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02" name="Google Shape;1602;p20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03" name="Google Shape;1603;p20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20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6" name="Google Shape;1606;p20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07" name="Google Shape;1607;p20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20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9" name="Google Shape;1609;p20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10" name="Google Shape;1610;p20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20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3" name="Google Shape;1613;p20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14" name="Google Shape;1614;p20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20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6" name="Google Shape;1616;p20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17" name="Google Shape;1617;p20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18" name="Google Shape;1618;p2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20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1" name="Google Shape;1621;p20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22" name="Google Shape;1622;p20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0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4" name="Google Shape;1624;p209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25" name="Google Shape;1625;p20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21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8" name="Google Shape;1628;p21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29" name="Google Shape;1629;p21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1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1" name="Google Shape;1631;p210"/>
          <p:cNvSpPr txBox="1">
            <a:spLocks noGrp="1"/>
          </p:cNvSpPr>
          <p:nvPr>
            <p:ph type="title" hasCustomPrompt="1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2" name="Google Shape;1632;p2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2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21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7" name="Google Shape;1637;p21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38" name="Google Shape;1638;p21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21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0" name="Google Shape;1640;p2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21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3" name="Google Shape;1643;p21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44" name="Google Shape;1644;p21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name="adj" fmla="val 5731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dist="152400" dir="8220000" algn="bl" rotWithShape="0">
                <a:schemeClr val="accent3">
                  <a:alpha val="4667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1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name="adj1" fmla="val 26066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6" name="Google Shape;1646;p2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0" Type="http://schemas.openxmlformats.org/officeDocument/2006/relationships/theme" Target="../theme/theme6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10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20.xml"/><Relationship Id="rId18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23.xml"/><Relationship Id="rId20" Type="http://schemas.openxmlformats.org/officeDocument/2006/relationships/theme" Target="../theme/theme7.xml"/><Relationship Id="rId1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2.xml"/><Relationship Id="rId15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2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139.xml"/><Relationship Id="rId18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8.xml"/><Relationship Id="rId17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28.xml"/><Relationship Id="rId16" Type="http://schemas.openxmlformats.org/officeDocument/2006/relationships/slideLayout" Target="../slideLayouts/slideLayout142.xml"/><Relationship Id="rId20" Type="http://schemas.openxmlformats.org/officeDocument/2006/relationships/theme" Target="../theme/theme8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36.xml"/><Relationship Id="rId19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4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3.xml"/><Relationship Id="rId13" Type="http://schemas.openxmlformats.org/officeDocument/2006/relationships/slideLayout" Target="../slideLayouts/slideLayout158.xml"/><Relationship Id="rId18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7.xml"/><Relationship Id="rId17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47.xml"/><Relationship Id="rId16" Type="http://schemas.openxmlformats.org/officeDocument/2006/relationships/slideLayout" Target="../slideLayouts/slideLayout161.xml"/><Relationship Id="rId20" Type="http://schemas.openxmlformats.org/officeDocument/2006/relationships/theme" Target="../theme/theme9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55.xml"/><Relationship Id="rId19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5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66.xml"/><Relationship Id="rId16" Type="http://schemas.openxmlformats.org/officeDocument/2006/relationships/slideLayout" Target="../slideLayouts/slideLayout180.xml"/><Relationship Id="rId20" Type="http://schemas.openxmlformats.org/officeDocument/2006/relationships/theme" Target="../theme/theme10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5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74.xml"/><Relationship Id="rId19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1.xml"/><Relationship Id="rId13" Type="http://schemas.openxmlformats.org/officeDocument/2006/relationships/slideLayout" Target="../slideLayouts/slideLayout196.xml"/><Relationship Id="rId18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5.xml"/><Relationship Id="rId17" Type="http://schemas.openxmlformats.org/officeDocument/2006/relationships/slideLayout" Target="../slideLayouts/slideLayout200.xml"/><Relationship Id="rId2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99.xml"/><Relationship Id="rId20" Type="http://schemas.openxmlformats.org/officeDocument/2006/relationships/theme" Target="../theme/theme11.xml"/><Relationship Id="rId1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88.xml"/><Relationship Id="rId15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3.xml"/><Relationship Id="rId19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92.xml"/><Relationship Id="rId14" Type="http://schemas.openxmlformats.org/officeDocument/2006/relationships/slideLayout" Target="../slideLayouts/slideLayout1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8" name="Google Shape;218;p3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19" name="Google Shape;219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77" name="Google Shape;377;p5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78" name="Google Shape;378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36" name="Google Shape;536;p7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537" name="Google Shape;537;p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95" name="Google Shape;695;p9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696" name="Google Shape;696;p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1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54" name="Google Shape;854;p11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55" name="Google Shape;855;p1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3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13" name="Google Shape;1013;p13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014" name="Google Shape;1014;p1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2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5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172" name="Google Shape;1172;p15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173" name="Google Shape;1173;p1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7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31" name="Google Shape;1331;p17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332" name="Google Shape;1332;p1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  <p:sldLayoutId id="2147483830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94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90" name="Google Shape;1490;p194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491" name="Google Shape;1491;p1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9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9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9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2.xml"/><Relationship Id="rId6" Type="http://schemas.openxmlformats.org/officeDocument/2006/relationships/comments" Target="../comments/commen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2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9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14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" Target="slide15.xm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18.png"/><Relationship Id="rId5" Type="http://schemas.openxmlformats.org/officeDocument/2006/relationships/slide" Target="slide12.xml"/><Relationship Id="rId4" Type="http://schemas.openxmlformats.org/officeDocument/2006/relationships/slide" Target="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9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2.xml"/><Relationship Id="rId6" Type="http://schemas.openxmlformats.org/officeDocument/2006/relationships/slide" Target="slide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slide" Target="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214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214"/>
          <p:cNvSpPr txBox="1">
            <a:spLocks noGrp="1"/>
          </p:cNvSpPr>
          <p:nvPr>
            <p:ph type="title"/>
          </p:nvPr>
        </p:nvSpPr>
        <p:spPr>
          <a:xfrm>
            <a:off x="492950" y="440425"/>
            <a:ext cx="8575800" cy="10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 sz="3400"/>
              <a:t>Interpretability, stability and</a:t>
            </a:r>
            <a:endParaRPr sz="3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 sz="3400"/>
              <a:t> algorithmic fairness</a:t>
            </a:r>
            <a:endParaRPr sz="3400"/>
          </a:p>
        </p:txBody>
      </p:sp>
      <p:sp>
        <p:nvSpPr>
          <p:cNvPr id="1653" name="Google Shape;1653;p214">
            <a:hlinkClick r:id="rId3" action="ppaction://hlinksldjump"/>
          </p:cNvPr>
          <p:cNvSpPr txBox="1"/>
          <p:nvPr/>
        </p:nvSpPr>
        <p:spPr>
          <a:xfrm>
            <a:off x="8004450" y="1915010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4" name="Google Shape;1654;p214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5" name="Google Shape;1655;p214">
            <a:hlinkClick r:id="" action="ppaction://noaction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6" name="Google Shape;1656;p214">
            <a:hlinkClick r:id="" action="ppaction://noaction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7" name="Google Shape;1657;p214"/>
          <p:cNvSpPr txBox="1"/>
          <p:nvPr/>
        </p:nvSpPr>
        <p:spPr>
          <a:xfrm>
            <a:off x="1269402" y="1393760"/>
            <a:ext cx="19110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8" name="Google Shape;1658;p214"/>
          <p:cNvSpPr txBox="1"/>
          <p:nvPr/>
        </p:nvSpPr>
        <p:spPr>
          <a:xfrm>
            <a:off x="1269402" y="3204259"/>
            <a:ext cx="18729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9" name="Google Shape;1659;p214"/>
          <p:cNvSpPr txBox="1"/>
          <p:nvPr/>
        </p:nvSpPr>
        <p:spPr>
          <a:xfrm>
            <a:off x="2298038" y="3278787"/>
            <a:ext cx="4965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6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660" name="Google Shape;1660;p214"/>
          <p:cNvSpPr txBox="1"/>
          <p:nvPr/>
        </p:nvSpPr>
        <p:spPr>
          <a:xfrm>
            <a:off x="1755749" y="1730660"/>
            <a:ext cx="4965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661" name="Google Shape;1661;p214"/>
          <p:cNvSpPr txBox="1"/>
          <p:nvPr/>
        </p:nvSpPr>
        <p:spPr>
          <a:xfrm>
            <a:off x="1759536" y="4100171"/>
            <a:ext cx="47481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662" name="Google Shape;1662;p214"/>
          <p:cNvSpPr txBox="1"/>
          <p:nvPr/>
        </p:nvSpPr>
        <p:spPr>
          <a:xfrm>
            <a:off x="2320420" y="4168401"/>
            <a:ext cx="55281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214"/>
          <p:cNvSpPr txBox="1"/>
          <p:nvPr/>
        </p:nvSpPr>
        <p:spPr>
          <a:xfrm>
            <a:off x="2313961" y="4575253"/>
            <a:ext cx="55281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2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  <p:sp>
        <p:nvSpPr>
          <p:cNvPr id="1665" name="Google Shape;1665;p214"/>
          <p:cNvSpPr txBox="1"/>
          <p:nvPr/>
        </p:nvSpPr>
        <p:spPr>
          <a:xfrm flipH="1">
            <a:off x="8004463" y="1569700"/>
            <a:ext cx="732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b="1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/>
          </a:p>
        </p:txBody>
      </p:sp>
      <p:sp>
        <p:nvSpPr>
          <p:cNvPr id="1666" name="Google Shape;1666;p214"/>
          <p:cNvSpPr txBox="1"/>
          <p:nvPr/>
        </p:nvSpPr>
        <p:spPr>
          <a:xfrm>
            <a:off x="366550" y="3161575"/>
            <a:ext cx="3716700" cy="19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Presented by :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Salerno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Marco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Jamai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Mamoun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Lafarguette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Pierre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Digua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Mehdi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Kire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Cédric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Sijelmassi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Iliass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667" name="Google Shape;1667;p214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125" y="1667550"/>
            <a:ext cx="3827001" cy="15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215"/>
          <p:cNvSpPr/>
          <p:nvPr/>
        </p:nvSpPr>
        <p:spPr>
          <a:xfrm>
            <a:off x="713225" y="1275074"/>
            <a:ext cx="732300" cy="732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215"/>
          <p:cNvSpPr/>
          <p:nvPr/>
        </p:nvSpPr>
        <p:spPr>
          <a:xfrm>
            <a:off x="713225" y="3131763"/>
            <a:ext cx="732300" cy="732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215"/>
          <p:cNvSpPr/>
          <p:nvPr/>
        </p:nvSpPr>
        <p:spPr>
          <a:xfrm>
            <a:off x="4270375" y="1275074"/>
            <a:ext cx="732300" cy="732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215"/>
          <p:cNvSpPr/>
          <p:nvPr/>
        </p:nvSpPr>
        <p:spPr>
          <a:xfrm>
            <a:off x="4270375" y="3131763"/>
            <a:ext cx="732300" cy="732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215"/>
          <p:cNvSpPr/>
          <p:nvPr/>
        </p:nvSpPr>
        <p:spPr>
          <a:xfrm flipH="1">
            <a:off x="7264896" y="4157425"/>
            <a:ext cx="336704" cy="336704"/>
          </a:xfrm>
          <a:custGeom>
            <a:avLst/>
            <a:gdLst/>
            <a:ahLst/>
            <a:cxnLst/>
            <a:rect l="l" t="t" r="r" b="b"/>
            <a:pathLst>
              <a:path w="18587" h="18587" extrusionOk="0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215"/>
          <p:cNvSpPr/>
          <p:nvPr/>
        </p:nvSpPr>
        <p:spPr>
          <a:xfrm>
            <a:off x="8138263" y="651619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215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/>
              <a:t>Summary</a:t>
            </a:r>
            <a:endParaRPr/>
          </a:p>
        </p:txBody>
      </p:sp>
      <p:sp>
        <p:nvSpPr>
          <p:cNvPr id="1679" name="Google Shape;1679;p215"/>
          <p:cNvSpPr txBox="1">
            <a:spLocks noGrp="1"/>
          </p:cNvSpPr>
          <p:nvPr>
            <p:ph type="subTitle" idx="1"/>
          </p:nvPr>
        </p:nvSpPr>
        <p:spPr>
          <a:xfrm>
            <a:off x="1669650" y="1655924"/>
            <a:ext cx="2376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Dataset and problem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Surrogate modeling</a:t>
            </a:r>
            <a:endParaRPr/>
          </a:p>
        </p:txBody>
      </p:sp>
      <p:sp>
        <p:nvSpPr>
          <p:cNvPr id="1680" name="Google Shape;1680;p215"/>
          <p:cNvSpPr txBox="1">
            <a:spLocks noGrp="1"/>
          </p:cNvSpPr>
          <p:nvPr>
            <p:ph type="subTitle" idx="2"/>
          </p:nvPr>
        </p:nvSpPr>
        <p:spPr>
          <a:xfrm>
            <a:off x="1573050" y="1220274"/>
            <a:ext cx="28212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fr" sz="2000" dirty="0"/>
              <a:t>The project</a:t>
            </a:r>
            <a:endParaRPr sz="2000" dirty="0"/>
          </a:p>
        </p:txBody>
      </p:sp>
      <p:sp>
        <p:nvSpPr>
          <p:cNvPr id="1681" name="Google Shape;1681;p215"/>
          <p:cNvSpPr txBox="1">
            <a:spLocks noGrp="1"/>
          </p:cNvSpPr>
          <p:nvPr>
            <p:ph type="title" idx="3"/>
          </p:nvPr>
        </p:nvSpPr>
        <p:spPr>
          <a:xfrm>
            <a:off x="713225" y="141471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fr">
                <a:solidFill>
                  <a:schemeClr val="accent4"/>
                </a:solidFill>
              </a:rPr>
              <a:t>01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82" name="Google Shape;1682;p215"/>
          <p:cNvSpPr txBox="1">
            <a:spLocks noGrp="1"/>
          </p:cNvSpPr>
          <p:nvPr>
            <p:ph type="subTitle" idx="4"/>
          </p:nvPr>
        </p:nvSpPr>
        <p:spPr>
          <a:xfrm>
            <a:off x="1573050" y="3465235"/>
            <a:ext cx="2376600" cy="11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dirty="0"/>
              <a:t>Data preparation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dirty="0"/>
              <a:t>LGBM Model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dirty="0"/>
              <a:t>Performance and stability </a:t>
            </a:r>
            <a:endParaRPr dirty="0"/>
          </a:p>
        </p:txBody>
      </p:sp>
      <p:sp>
        <p:nvSpPr>
          <p:cNvPr id="1683" name="Google Shape;1683;p215"/>
          <p:cNvSpPr txBox="1">
            <a:spLocks noGrp="1"/>
          </p:cNvSpPr>
          <p:nvPr>
            <p:ph type="subTitle" idx="5"/>
          </p:nvPr>
        </p:nvSpPr>
        <p:spPr>
          <a:xfrm>
            <a:off x="1573050" y="3079425"/>
            <a:ext cx="27618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fr" sz="2000" dirty="0"/>
              <a:t>Black box model</a:t>
            </a:r>
            <a:endParaRPr sz="2000" dirty="0"/>
          </a:p>
        </p:txBody>
      </p:sp>
      <p:sp>
        <p:nvSpPr>
          <p:cNvPr id="1684" name="Google Shape;1684;p215"/>
          <p:cNvSpPr txBox="1">
            <a:spLocks noGrp="1"/>
          </p:cNvSpPr>
          <p:nvPr>
            <p:ph type="title" idx="6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fr">
                <a:solidFill>
                  <a:schemeClr val="accent4"/>
                </a:solidFill>
              </a:rPr>
              <a:t>02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85" name="Google Shape;1685;p215"/>
          <p:cNvSpPr txBox="1">
            <a:spLocks noGrp="1"/>
          </p:cNvSpPr>
          <p:nvPr>
            <p:ph type="subTitle" idx="8"/>
          </p:nvPr>
        </p:nvSpPr>
        <p:spPr>
          <a:xfrm>
            <a:off x="5002675" y="3131775"/>
            <a:ext cx="2712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fr" sz="2000" dirty="0"/>
              <a:t>  Conclusion</a:t>
            </a:r>
            <a:endParaRPr sz="2000" dirty="0"/>
          </a:p>
        </p:txBody>
      </p:sp>
      <p:sp>
        <p:nvSpPr>
          <p:cNvPr id="1686" name="Google Shape;1686;p215"/>
          <p:cNvSpPr txBox="1">
            <a:spLocks noGrp="1"/>
          </p:cNvSpPr>
          <p:nvPr>
            <p:ph type="title" idx="9"/>
          </p:nvPr>
        </p:nvSpPr>
        <p:spPr>
          <a:xfrm>
            <a:off x="4270375" y="141471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fr" dirty="0">
                <a:solidFill>
                  <a:schemeClr val="accent4"/>
                </a:solidFill>
              </a:rPr>
              <a:t>03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687" name="Google Shape;1687;p215"/>
          <p:cNvSpPr txBox="1">
            <a:spLocks noGrp="1"/>
          </p:cNvSpPr>
          <p:nvPr>
            <p:ph type="subTitle" idx="14"/>
          </p:nvPr>
        </p:nvSpPr>
        <p:spPr>
          <a:xfrm>
            <a:off x="5092963" y="1220274"/>
            <a:ext cx="28212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2000" dirty="0"/>
              <a:t>Interpretability, fairness </a:t>
            </a:r>
            <a:endParaRPr sz="2000" dirty="0"/>
          </a:p>
        </p:txBody>
      </p:sp>
      <p:sp>
        <p:nvSpPr>
          <p:cNvPr id="1688" name="Google Shape;1688;p215"/>
          <p:cNvSpPr txBox="1">
            <a:spLocks noGrp="1"/>
          </p:cNvSpPr>
          <p:nvPr>
            <p:ph type="title" idx="15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fr">
                <a:solidFill>
                  <a:schemeClr val="accent4"/>
                </a:solidFill>
              </a:rPr>
              <a:t>04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89" name="Google Shape;1689;p215">
            <a:hlinkClick r:id="" action="ppaction://noaction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0" name="Google Shape;1690;p215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1" name="Google Shape;1691;p215">
            <a:hlinkClick r:id="" action="ppaction://noaction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2" name="Google Shape;1692;p215">
            <a:hlinkClick r:id="" action="ppaction://noaction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3" name="Google Shape;1693;p2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pic>
        <p:nvPicPr>
          <p:cNvPr id="1694" name="Google Shape;1694;p215" title="HEC_Paris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215"/>
          <p:cNvSpPr txBox="1"/>
          <p:nvPr/>
        </p:nvSpPr>
        <p:spPr>
          <a:xfrm>
            <a:off x="5138275" y="1747507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Global interpretability </a:t>
            </a:r>
            <a:endParaRPr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Local interpretability </a:t>
            </a:r>
            <a:endParaRPr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Performance / Predictions drivers</a:t>
            </a:r>
            <a:endParaRPr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696" name="Google Shape;1696;p215"/>
          <p:cNvSpPr txBox="1"/>
          <p:nvPr/>
        </p:nvSpPr>
        <p:spPr>
          <a:xfrm>
            <a:off x="5118125" y="3381513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Algorithmic fairness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Findings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Recommendations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216"/>
          <p:cNvSpPr/>
          <p:nvPr/>
        </p:nvSpPr>
        <p:spPr>
          <a:xfrm>
            <a:off x="8019150" y="1408713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216"/>
          <p:cNvSpPr/>
          <p:nvPr/>
        </p:nvSpPr>
        <p:spPr>
          <a:xfrm>
            <a:off x="942975" y="1454750"/>
            <a:ext cx="837300" cy="837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216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216"/>
          <p:cNvSpPr/>
          <p:nvPr/>
        </p:nvSpPr>
        <p:spPr>
          <a:xfrm>
            <a:off x="6858328" y="2834551"/>
            <a:ext cx="336723" cy="337013"/>
          </a:xfrm>
          <a:custGeom>
            <a:avLst/>
            <a:gdLst/>
            <a:ahLst/>
            <a:cxnLst/>
            <a:rect l="l" t="t" r="r" b="b"/>
            <a:pathLst>
              <a:path w="18565" h="18581" extrusionOk="0">
                <a:moveTo>
                  <a:pt x="15647" y="1454"/>
                </a:moveTo>
                <a:cubicBezTo>
                  <a:pt x="16021" y="1454"/>
                  <a:pt x="16397" y="1593"/>
                  <a:pt x="16687" y="1871"/>
                </a:cubicBezTo>
                <a:cubicBezTo>
                  <a:pt x="16942" y="2150"/>
                  <a:pt x="17104" y="2520"/>
                  <a:pt x="17104" y="2891"/>
                </a:cubicBezTo>
                <a:cubicBezTo>
                  <a:pt x="17104" y="3285"/>
                  <a:pt x="16965" y="3656"/>
                  <a:pt x="16687" y="3934"/>
                </a:cubicBezTo>
                <a:lnTo>
                  <a:pt x="5331" y="15336"/>
                </a:lnTo>
                <a:lnTo>
                  <a:pt x="3268" y="13274"/>
                </a:lnTo>
                <a:lnTo>
                  <a:pt x="11055" y="5464"/>
                </a:lnTo>
                <a:lnTo>
                  <a:pt x="12237" y="6646"/>
                </a:lnTo>
                <a:lnTo>
                  <a:pt x="13257" y="5626"/>
                </a:lnTo>
                <a:lnTo>
                  <a:pt x="12075" y="4444"/>
                </a:lnTo>
                <a:lnTo>
                  <a:pt x="13164" y="3331"/>
                </a:lnTo>
                <a:lnTo>
                  <a:pt x="14369" y="4513"/>
                </a:lnTo>
                <a:lnTo>
                  <a:pt x="15389" y="3494"/>
                </a:lnTo>
                <a:lnTo>
                  <a:pt x="14184" y="2312"/>
                </a:lnTo>
                <a:lnTo>
                  <a:pt x="14624" y="1871"/>
                </a:lnTo>
                <a:cubicBezTo>
                  <a:pt x="14902" y="1593"/>
                  <a:pt x="15273" y="1454"/>
                  <a:pt x="15647" y="1454"/>
                </a:cubicBezTo>
                <a:close/>
                <a:moveTo>
                  <a:pt x="2411" y="14479"/>
                </a:moveTo>
                <a:lnTo>
                  <a:pt x="4103" y="16171"/>
                </a:lnTo>
                <a:lnTo>
                  <a:pt x="2550" y="16518"/>
                </a:lnTo>
                <a:lnTo>
                  <a:pt x="2063" y="16031"/>
                </a:lnTo>
                <a:lnTo>
                  <a:pt x="2411" y="14479"/>
                </a:lnTo>
                <a:close/>
                <a:moveTo>
                  <a:pt x="15647" y="0"/>
                </a:moveTo>
                <a:cubicBezTo>
                  <a:pt x="14902" y="0"/>
                  <a:pt x="14161" y="284"/>
                  <a:pt x="13605" y="852"/>
                </a:cubicBezTo>
                <a:lnTo>
                  <a:pt x="1901" y="12602"/>
                </a:lnTo>
                <a:cubicBezTo>
                  <a:pt x="1507" y="12972"/>
                  <a:pt x="1229" y="13459"/>
                  <a:pt x="1044" y="13946"/>
                </a:cubicBezTo>
                <a:lnTo>
                  <a:pt x="1044" y="13992"/>
                </a:lnTo>
                <a:lnTo>
                  <a:pt x="1" y="18581"/>
                </a:lnTo>
                <a:lnTo>
                  <a:pt x="4613" y="17561"/>
                </a:lnTo>
                <a:lnTo>
                  <a:pt x="4636" y="17538"/>
                </a:lnTo>
                <a:cubicBezTo>
                  <a:pt x="5146" y="17376"/>
                  <a:pt x="5632" y="17074"/>
                  <a:pt x="6003" y="16704"/>
                </a:cubicBezTo>
                <a:lnTo>
                  <a:pt x="17707" y="4954"/>
                </a:lnTo>
                <a:cubicBezTo>
                  <a:pt x="18263" y="4398"/>
                  <a:pt x="18564" y="3679"/>
                  <a:pt x="18564" y="2891"/>
                </a:cubicBezTo>
                <a:cubicBezTo>
                  <a:pt x="18564" y="2126"/>
                  <a:pt x="18263" y="1385"/>
                  <a:pt x="17707" y="852"/>
                </a:cubicBezTo>
                <a:cubicBezTo>
                  <a:pt x="17139" y="284"/>
                  <a:pt x="16391" y="0"/>
                  <a:pt x="15647" y="0"/>
                </a:cubicBezTo>
                <a:close/>
                <a:moveTo>
                  <a:pt x="7625" y="17121"/>
                </a:moveTo>
                <a:lnTo>
                  <a:pt x="6189" y="18581"/>
                </a:lnTo>
                <a:lnTo>
                  <a:pt x="18564" y="18581"/>
                </a:lnTo>
                <a:lnTo>
                  <a:pt x="18564" y="1712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216"/>
          <p:cNvSpPr/>
          <p:nvPr/>
        </p:nvSpPr>
        <p:spPr>
          <a:xfrm flipH="1">
            <a:off x="4482721" y="3683886"/>
            <a:ext cx="336704" cy="336704"/>
          </a:xfrm>
          <a:custGeom>
            <a:avLst/>
            <a:gdLst/>
            <a:ahLst/>
            <a:cxnLst/>
            <a:rect l="l" t="t" r="r" b="b"/>
            <a:pathLst>
              <a:path w="18587" h="18587" extrusionOk="0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6" name="Google Shape;1706;p216"/>
          <p:cNvCxnSpPr/>
          <p:nvPr/>
        </p:nvCxnSpPr>
        <p:spPr>
          <a:xfrm>
            <a:off x="978825" y="789025"/>
            <a:ext cx="62202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7" name="Google Shape;1707;p216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fr" sz="5400" dirty="0"/>
              <a:t>The Project</a:t>
            </a:r>
            <a:endParaRPr sz="5400" dirty="0"/>
          </a:p>
        </p:txBody>
      </p:sp>
      <p:sp>
        <p:nvSpPr>
          <p:cNvPr id="1708" name="Google Shape;1708;p216"/>
          <p:cNvSpPr txBox="1">
            <a:spLocks noGrp="1"/>
          </p:cNvSpPr>
          <p:nvPr>
            <p:ph type="subTitle" idx="1"/>
          </p:nvPr>
        </p:nvSpPr>
        <p:spPr>
          <a:xfrm>
            <a:off x="1054150" y="3683875"/>
            <a:ext cx="3272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/>
              <a:t>Dataset and problem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/>
              <a:t>Surrogate modeling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9" name="Google Shape;1709;p216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>
                <a:solidFill>
                  <a:schemeClr val="accent4"/>
                </a:solidFill>
              </a:rPr>
              <a:t>01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10" name="Google Shape;1710;p216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1" name="Google Shape;1711;p216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2" name="Google Shape;1712;p216">
            <a:hlinkClick r:id="" action="ppaction://noaction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3" name="Google Shape;1713;p216">
            <a:hlinkClick r:id="" action="ppaction://noaction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4" name="Google Shape;1714;p216"/>
          <p:cNvSpPr txBox="1"/>
          <p:nvPr/>
        </p:nvSpPr>
        <p:spPr>
          <a:xfrm>
            <a:off x="978825" y="526194"/>
            <a:ext cx="4585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September</a:t>
            </a:r>
            <a:r>
              <a:rPr lang="fr" sz="15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-202</a:t>
            </a: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5</a:t>
            </a:r>
            <a:endParaRPr sz="1500" b="0" i="0" u="none" strike="noStrike" cap="none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5" name="Google Shape;1715;p2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pic>
        <p:nvPicPr>
          <p:cNvPr id="1716" name="Google Shape;1716;p216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5">
          <a:extLst>
            <a:ext uri="{FF2B5EF4-FFF2-40B4-BE49-F238E27FC236}">
              <a16:creationId xmlns:a16="http://schemas.microsoft.com/office/drawing/2014/main" id="{9BC8E45D-96DE-6275-5166-02745E57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218">
            <a:extLst>
              <a:ext uri="{FF2B5EF4-FFF2-40B4-BE49-F238E27FC236}">
                <a16:creationId xmlns:a16="http://schemas.microsoft.com/office/drawing/2014/main" id="{96096C3E-DA56-2DE1-573F-7D748D139D08}"/>
              </a:ext>
            </a:extLst>
          </p:cNvPr>
          <p:cNvSpPr/>
          <p:nvPr/>
        </p:nvSpPr>
        <p:spPr>
          <a:xfrm>
            <a:off x="8019150" y="1408713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218">
            <a:extLst>
              <a:ext uri="{FF2B5EF4-FFF2-40B4-BE49-F238E27FC236}">
                <a16:creationId xmlns:a16="http://schemas.microsoft.com/office/drawing/2014/main" id="{C3C0ED98-481D-25CA-9D61-F596C5B307EC}"/>
              </a:ext>
            </a:extLst>
          </p:cNvPr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218">
            <a:extLst>
              <a:ext uri="{FF2B5EF4-FFF2-40B4-BE49-F238E27FC236}">
                <a16:creationId xmlns:a16="http://schemas.microsoft.com/office/drawing/2014/main" id="{42979C50-EB4F-7A42-133F-CD41D5EC45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7206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 dirty="0"/>
              <a:t>Key Concepts</a:t>
            </a:r>
            <a:endParaRPr dirty="0"/>
          </a:p>
        </p:txBody>
      </p:sp>
      <p:sp>
        <p:nvSpPr>
          <p:cNvPr id="1749" name="Google Shape;1749;p218">
            <a:hlinkClick r:id="rId3" action="ppaction://hlinksldjump"/>
            <a:extLst>
              <a:ext uri="{FF2B5EF4-FFF2-40B4-BE49-F238E27FC236}">
                <a16:creationId xmlns:a16="http://schemas.microsoft.com/office/drawing/2014/main" id="{7B0CD6BC-65DA-4D21-3A3C-38C36A9415B4}"/>
              </a:ext>
            </a:extLst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0" name="Google Shape;1750;p218">
            <a:hlinkClick r:id="" action="ppaction://noaction"/>
            <a:extLst>
              <a:ext uri="{FF2B5EF4-FFF2-40B4-BE49-F238E27FC236}">
                <a16:creationId xmlns:a16="http://schemas.microsoft.com/office/drawing/2014/main" id="{41D133B5-4ACB-63C3-5B12-EB3178E25D2A}"/>
              </a:ext>
            </a:extLst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1" name="Google Shape;1751;p218">
            <a:hlinkClick r:id="" action="ppaction://noaction"/>
            <a:extLst>
              <a:ext uri="{FF2B5EF4-FFF2-40B4-BE49-F238E27FC236}">
                <a16:creationId xmlns:a16="http://schemas.microsoft.com/office/drawing/2014/main" id="{972D3F86-3B24-8BFF-F45F-434358809FE3}"/>
              </a:ext>
            </a:extLst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2" name="Google Shape;1752;p218">
            <a:hlinkClick r:id="" action="ppaction://noaction"/>
            <a:extLst>
              <a:ext uri="{FF2B5EF4-FFF2-40B4-BE49-F238E27FC236}">
                <a16:creationId xmlns:a16="http://schemas.microsoft.com/office/drawing/2014/main" id="{BF445E9D-4B21-AFAC-8814-7CEAB1ED474E}"/>
              </a:ext>
            </a:extLst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3" name="Google Shape;1753;p218">
            <a:extLst>
              <a:ext uri="{FF2B5EF4-FFF2-40B4-BE49-F238E27FC236}">
                <a16:creationId xmlns:a16="http://schemas.microsoft.com/office/drawing/2014/main" id="{F0C59455-5041-1B72-2153-24BCA9F595C0}"/>
              </a:ext>
            </a:extLst>
          </p:cNvPr>
          <p:cNvSpPr txBox="1"/>
          <p:nvPr/>
        </p:nvSpPr>
        <p:spPr>
          <a:xfrm>
            <a:off x="5390451" y="403064"/>
            <a:ext cx="38952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>
              <a:solidFill>
                <a:srgbClr val="D1D5DB"/>
              </a:solidFill>
              <a:highlight>
                <a:srgbClr val="444654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54" name="Google Shape;1754;p218">
            <a:extLst>
              <a:ext uri="{FF2B5EF4-FFF2-40B4-BE49-F238E27FC236}">
                <a16:creationId xmlns:a16="http://schemas.microsoft.com/office/drawing/2014/main" id="{5CD5712A-C8F1-F9F6-53A1-59801E67DE64}"/>
              </a:ext>
            </a:extLst>
          </p:cNvPr>
          <p:cNvSpPr txBox="1"/>
          <p:nvPr/>
        </p:nvSpPr>
        <p:spPr>
          <a:xfrm>
            <a:off x="242161" y="2781578"/>
            <a:ext cx="55281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218">
            <a:extLst>
              <a:ext uri="{FF2B5EF4-FFF2-40B4-BE49-F238E27FC236}">
                <a16:creationId xmlns:a16="http://schemas.microsoft.com/office/drawing/2014/main" id="{5070748E-2EC8-398B-4D2C-FDB86E03A4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pic>
        <p:nvPicPr>
          <p:cNvPr id="1761" name="Google Shape;1761;p218" title="HEC_Paris.svg.png">
            <a:extLst>
              <a:ext uri="{FF2B5EF4-FFF2-40B4-BE49-F238E27FC236}">
                <a16:creationId xmlns:a16="http://schemas.microsoft.com/office/drawing/2014/main" id="{9EB7817A-0EEB-318A-70F8-297C4AAAB3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350" y="44952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p218">
            <a:extLst>
              <a:ext uri="{FF2B5EF4-FFF2-40B4-BE49-F238E27FC236}">
                <a16:creationId xmlns:a16="http://schemas.microsoft.com/office/drawing/2014/main" id="{A2BEE95D-48B7-B412-C782-79AF0EC79F24}"/>
              </a:ext>
            </a:extLst>
          </p:cNvPr>
          <p:cNvSpPr txBox="1"/>
          <p:nvPr/>
        </p:nvSpPr>
        <p:spPr>
          <a:xfrm flipH="1">
            <a:off x="455575" y="2100125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</a:t>
            </a:r>
            <a:r>
              <a:rPr lang="fr" sz="1800" b="1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sefulness of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</a:t>
            </a:r>
            <a:r>
              <a:rPr lang="fr" sz="1800" b="1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tability,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Interpretability,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fairness</a:t>
            </a:r>
            <a:endParaRPr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4" name="Google Shape;1764;p218">
            <a:extLst>
              <a:ext uri="{FF2B5EF4-FFF2-40B4-BE49-F238E27FC236}">
                <a16:creationId xmlns:a16="http://schemas.microsoft.com/office/drawing/2014/main" id="{848AE6FC-6333-B759-C09F-543FD4C6FF21}"/>
              </a:ext>
            </a:extLst>
          </p:cNvPr>
          <p:cNvSpPr txBox="1"/>
          <p:nvPr/>
        </p:nvSpPr>
        <p:spPr>
          <a:xfrm>
            <a:off x="2874500" y="4171250"/>
            <a:ext cx="199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6" name="Google Shape;1766;p218">
            <a:extLst>
              <a:ext uri="{FF2B5EF4-FFF2-40B4-BE49-F238E27FC236}">
                <a16:creationId xmlns:a16="http://schemas.microsoft.com/office/drawing/2014/main" id="{12075947-8907-CCA0-0430-99C16E54F0DA}"/>
              </a:ext>
            </a:extLst>
          </p:cNvPr>
          <p:cNvSpPr txBox="1"/>
          <p:nvPr/>
        </p:nvSpPr>
        <p:spPr>
          <a:xfrm>
            <a:off x="4487838" y="4694975"/>
            <a:ext cx="29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7849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217"/>
          <p:cNvSpPr/>
          <p:nvPr/>
        </p:nvSpPr>
        <p:spPr>
          <a:xfrm>
            <a:off x="8019150" y="1408713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217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217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/>
              <a:t>   Dataset and problem</a:t>
            </a:r>
            <a:endParaRPr/>
          </a:p>
        </p:txBody>
      </p:sp>
      <p:sp>
        <p:nvSpPr>
          <p:cNvPr id="1724" name="Google Shape;1724;p217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25" name="Google Shape;1725;p217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26" name="Google Shape;1726;p217">
            <a:hlinkClick r:id="" action="ppaction://noaction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27" name="Google Shape;1727;p217">
            <a:hlinkClick r:id="" action="ppaction://noaction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28" name="Google Shape;1728;p217"/>
          <p:cNvSpPr txBox="1"/>
          <p:nvPr/>
        </p:nvSpPr>
        <p:spPr>
          <a:xfrm>
            <a:off x="5390451" y="403064"/>
            <a:ext cx="38952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>
              <a:solidFill>
                <a:srgbClr val="D1D5DB"/>
              </a:solidFill>
              <a:highlight>
                <a:srgbClr val="444654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29" name="Google Shape;1729;p217"/>
          <p:cNvSpPr/>
          <p:nvPr/>
        </p:nvSpPr>
        <p:spPr>
          <a:xfrm>
            <a:off x="814386" y="1525458"/>
            <a:ext cx="178200" cy="178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217"/>
          <p:cNvSpPr txBox="1"/>
          <p:nvPr/>
        </p:nvSpPr>
        <p:spPr>
          <a:xfrm>
            <a:off x="1788786" y="4079471"/>
            <a:ext cx="47481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31" name="Google Shape;1731;p217"/>
          <p:cNvSpPr/>
          <p:nvPr/>
        </p:nvSpPr>
        <p:spPr>
          <a:xfrm>
            <a:off x="814385" y="2131274"/>
            <a:ext cx="178200" cy="178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217"/>
          <p:cNvSpPr/>
          <p:nvPr/>
        </p:nvSpPr>
        <p:spPr>
          <a:xfrm>
            <a:off x="814375" y="2829374"/>
            <a:ext cx="178200" cy="178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217"/>
          <p:cNvSpPr txBox="1"/>
          <p:nvPr/>
        </p:nvSpPr>
        <p:spPr>
          <a:xfrm>
            <a:off x="1781150" y="1523650"/>
            <a:ext cx="51660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34" name="Google Shape;1734;p217"/>
          <p:cNvSpPr txBox="1"/>
          <p:nvPr/>
        </p:nvSpPr>
        <p:spPr>
          <a:xfrm>
            <a:off x="2290736" y="4495203"/>
            <a:ext cx="55281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2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1736" name="Google Shape;1736;p217"/>
          <p:cNvSpPr/>
          <p:nvPr/>
        </p:nvSpPr>
        <p:spPr>
          <a:xfrm>
            <a:off x="814372" y="3527470"/>
            <a:ext cx="178200" cy="178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7" name="Google Shape;1737;p217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38" name="Google Shape;1738;p217"/>
          <p:cNvSpPr txBox="1"/>
          <p:nvPr/>
        </p:nvSpPr>
        <p:spPr>
          <a:xfrm>
            <a:off x="992575" y="1260550"/>
            <a:ext cx="6340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b="1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Predict Loan Default</a:t>
            </a:r>
            <a:r>
              <a:rPr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: The goal is to classify borrower risk using a large-scale, real-world lending dataset.</a:t>
            </a:r>
            <a:endParaRPr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39" name="Google Shape;1739;p217"/>
          <p:cNvSpPr txBox="1"/>
          <p:nvPr/>
        </p:nvSpPr>
        <p:spPr>
          <a:xfrm>
            <a:off x="992575" y="1980675"/>
            <a:ext cx="593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b="1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An Existing Black-Box Model: </a:t>
            </a:r>
            <a:r>
              <a:rPr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dataset includes Predicted probabilities from a model whose logic is unknown.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740" name="Google Shape;1740;p217"/>
          <p:cNvSpPr txBox="1"/>
          <p:nvPr/>
        </p:nvSpPr>
        <p:spPr>
          <a:xfrm>
            <a:off x="992575" y="2754075"/>
            <a:ext cx="6340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b="1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Chronological Data Structure:</a:t>
            </a:r>
            <a:r>
              <a:rPr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The data is ordered by loan issue date (issue_d)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741" name="Google Shape;1741;p217"/>
          <p:cNvSpPr txBox="1"/>
          <p:nvPr/>
        </p:nvSpPr>
        <p:spPr>
          <a:xfrm>
            <a:off x="992575" y="3397388"/>
            <a:ext cx="6340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We will first interpret and analyze this existing model, then develop and validate our own model.</a:t>
            </a:r>
            <a:endParaRPr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218"/>
          <p:cNvSpPr/>
          <p:nvPr/>
        </p:nvSpPr>
        <p:spPr>
          <a:xfrm>
            <a:off x="8019150" y="1408713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218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218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7206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/>
              <a:t>Surrogate Model</a:t>
            </a:r>
            <a:endParaRPr/>
          </a:p>
        </p:txBody>
      </p:sp>
      <p:sp>
        <p:nvSpPr>
          <p:cNvPr id="1749" name="Google Shape;1749;p218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0" name="Google Shape;1750;p218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1" name="Google Shape;1751;p218">
            <a:hlinkClick r:id="" action="ppaction://noaction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2" name="Google Shape;1752;p218">
            <a:hlinkClick r:id="" action="ppaction://noaction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3" name="Google Shape;1753;p218"/>
          <p:cNvSpPr txBox="1"/>
          <p:nvPr/>
        </p:nvSpPr>
        <p:spPr>
          <a:xfrm>
            <a:off x="5390451" y="403064"/>
            <a:ext cx="38952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>
              <a:solidFill>
                <a:srgbClr val="D1D5DB"/>
              </a:solidFill>
              <a:highlight>
                <a:srgbClr val="444654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54" name="Google Shape;1754;p218"/>
          <p:cNvSpPr txBox="1"/>
          <p:nvPr/>
        </p:nvSpPr>
        <p:spPr>
          <a:xfrm>
            <a:off x="242161" y="2781578"/>
            <a:ext cx="55281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2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sp>
        <p:nvSpPr>
          <p:cNvPr id="1756" name="Google Shape;1756;p218"/>
          <p:cNvSpPr txBox="1"/>
          <p:nvPr/>
        </p:nvSpPr>
        <p:spPr>
          <a:xfrm flipH="1">
            <a:off x="4491000" y="2164763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 sz="18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Decision Tree (Depth = 3) 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57" name="Google Shape;1757;p218"/>
          <p:cNvSpPr txBox="1"/>
          <p:nvPr/>
        </p:nvSpPr>
        <p:spPr>
          <a:xfrm>
            <a:off x="457675" y="2483975"/>
            <a:ext cx="2841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Linear Regression Surrogate R² on test set: </a:t>
            </a:r>
            <a:r>
              <a:rPr lang="fr" sz="1050" b="1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0.9643</a:t>
            </a:r>
            <a:endParaRPr sz="1050" b="1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Linear regression Surrogate MSE on test set: </a:t>
            </a:r>
            <a:r>
              <a:rPr lang="fr" sz="1050" b="1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0.000464</a:t>
            </a:r>
            <a:endParaRPr b="1"/>
          </a:p>
        </p:txBody>
      </p:sp>
      <p:pic>
        <p:nvPicPr>
          <p:cNvPr id="1758" name="Google Shape;1758;p218"/>
          <p:cNvPicPr preferRelativeResize="0"/>
          <p:nvPr/>
        </p:nvPicPr>
        <p:blipFill rotWithShape="1">
          <a:blip r:embed="rId4">
            <a:alphaModFix/>
          </a:blip>
          <a:srcRect l="-18940" r="18939"/>
          <a:stretch/>
        </p:blipFill>
        <p:spPr>
          <a:xfrm>
            <a:off x="570402" y="3281531"/>
            <a:ext cx="2845501" cy="1523007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218"/>
          <p:cNvSpPr txBox="1"/>
          <p:nvPr/>
        </p:nvSpPr>
        <p:spPr>
          <a:xfrm>
            <a:off x="4660350" y="2591525"/>
            <a:ext cx="2506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Decision Tree Surrogate R² on test set: </a:t>
            </a:r>
            <a:r>
              <a:rPr lang="fr" sz="1050" b="1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0.7355</a:t>
            </a:r>
            <a:endParaRPr sz="1050" b="1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Decision Tree Surrogate MSE on test set: </a:t>
            </a:r>
            <a:r>
              <a:rPr lang="fr" sz="1050" b="1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0.003437</a:t>
            </a:r>
            <a:endParaRPr b="1"/>
          </a:p>
        </p:txBody>
      </p:sp>
      <p:pic>
        <p:nvPicPr>
          <p:cNvPr id="1760" name="Google Shape;1760;p2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800" y="3335000"/>
            <a:ext cx="2658726" cy="14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" name="Google Shape;1761;p218" title="HEC_Paris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350" y="44952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p218"/>
          <p:cNvSpPr txBox="1"/>
          <p:nvPr/>
        </p:nvSpPr>
        <p:spPr>
          <a:xfrm flipH="1">
            <a:off x="455575" y="2100125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Linear regression 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3" name="Google Shape;1763;p218"/>
          <p:cNvSpPr txBox="1"/>
          <p:nvPr/>
        </p:nvSpPr>
        <p:spPr>
          <a:xfrm>
            <a:off x="320350" y="847287"/>
            <a:ext cx="7498500" cy="157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1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Linear models capture global linear relationships, while decision trees capture  non-linear interactions, resulting in </a:t>
            </a:r>
            <a:r>
              <a:rPr lang="fr" sz="1100" b="1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different feature importance outcomes</a:t>
            </a:r>
            <a:r>
              <a:rPr lang="fr" sz="11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  <a:endParaRPr sz="1100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1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linear model approximates the unknown </a:t>
            </a:r>
            <a:r>
              <a:rPr lang="fr" sz="1100" b="1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model’s predictions more accurately, </a:t>
            </a:r>
            <a:r>
              <a:rPr lang="fr" sz="11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suggesting the grade feature’s significant role, as it reflects credit risk assessment.</a:t>
            </a:r>
            <a:endParaRPr sz="1100" dirty="0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4" name="Google Shape;1764;p218"/>
          <p:cNvSpPr txBox="1"/>
          <p:nvPr/>
        </p:nvSpPr>
        <p:spPr>
          <a:xfrm>
            <a:off x="2874500" y="4171250"/>
            <a:ext cx="199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5" name="Google Shape;1765;p218"/>
          <p:cNvSpPr txBox="1"/>
          <p:nvPr/>
        </p:nvSpPr>
        <p:spPr>
          <a:xfrm>
            <a:off x="850450" y="4660450"/>
            <a:ext cx="303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1: Top Feature Contributions for LR</a:t>
            </a:r>
            <a:endParaRPr sz="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6" name="Google Shape;1766;p218"/>
          <p:cNvSpPr txBox="1"/>
          <p:nvPr/>
        </p:nvSpPr>
        <p:spPr>
          <a:xfrm>
            <a:off x="4487838" y="4694975"/>
            <a:ext cx="29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7" name="Google Shape;1767;p218"/>
          <p:cNvSpPr txBox="1"/>
          <p:nvPr/>
        </p:nvSpPr>
        <p:spPr>
          <a:xfrm>
            <a:off x="4345125" y="4665125"/>
            <a:ext cx="303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2 : Top Feature Contributions for Decision Tree</a:t>
            </a:r>
            <a:endParaRPr sz="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219"/>
          <p:cNvSpPr/>
          <p:nvPr/>
        </p:nvSpPr>
        <p:spPr>
          <a:xfrm>
            <a:off x="8019150" y="22861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219"/>
          <p:cNvSpPr/>
          <p:nvPr/>
        </p:nvSpPr>
        <p:spPr>
          <a:xfrm>
            <a:off x="713225" y="1980675"/>
            <a:ext cx="837300" cy="837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219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219"/>
          <p:cNvSpPr/>
          <p:nvPr/>
        </p:nvSpPr>
        <p:spPr>
          <a:xfrm flipH="1">
            <a:off x="6923396" y="3184061"/>
            <a:ext cx="336704" cy="336704"/>
          </a:xfrm>
          <a:custGeom>
            <a:avLst/>
            <a:gdLst/>
            <a:ahLst/>
            <a:cxnLst/>
            <a:rect l="l" t="t" r="r" b="b"/>
            <a:pathLst>
              <a:path w="18587" h="18587" extrusionOk="0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219"/>
          <p:cNvSpPr txBox="1"/>
          <p:nvPr/>
        </p:nvSpPr>
        <p:spPr>
          <a:xfrm>
            <a:off x="713225" y="539500"/>
            <a:ext cx="458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September-2025</a:t>
            </a: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777" name="Google Shape;1777;p219"/>
          <p:cNvCxnSpPr/>
          <p:nvPr/>
        </p:nvCxnSpPr>
        <p:spPr>
          <a:xfrm>
            <a:off x="713225" y="789025"/>
            <a:ext cx="67146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8" name="Google Shape;1778;p219"/>
          <p:cNvSpPr txBox="1">
            <a:spLocks noGrp="1"/>
          </p:cNvSpPr>
          <p:nvPr>
            <p:ph type="title"/>
          </p:nvPr>
        </p:nvSpPr>
        <p:spPr>
          <a:xfrm>
            <a:off x="1767350" y="1817500"/>
            <a:ext cx="5660400" cy="11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fr" sz="4000"/>
              <a:t>Development of a Proposed Model</a:t>
            </a:r>
            <a:endParaRPr sz="4000" b="0"/>
          </a:p>
        </p:txBody>
      </p:sp>
      <p:sp>
        <p:nvSpPr>
          <p:cNvPr id="1779" name="Google Shape;1779;p219"/>
          <p:cNvSpPr txBox="1">
            <a:spLocks noGrp="1"/>
          </p:cNvSpPr>
          <p:nvPr>
            <p:ph type="subTitle" idx="1"/>
          </p:nvPr>
        </p:nvSpPr>
        <p:spPr>
          <a:xfrm>
            <a:off x="1767350" y="3067727"/>
            <a:ext cx="35118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 sz="1400"/>
              <a:t>Data preparation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 sz="1400"/>
              <a:t>LGBM Model 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 sz="1400"/>
              <a:t>Performance and stability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0" name="Google Shape;1780;p219"/>
          <p:cNvSpPr txBox="1">
            <a:spLocks noGrp="1"/>
          </p:cNvSpPr>
          <p:nvPr>
            <p:ph type="title" idx="2"/>
          </p:nvPr>
        </p:nvSpPr>
        <p:spPr>
          <a:xfrm>
            <a:off x="713225" y="2125376"/>
            <a:ext cx="83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>
                <a:solidFill>
                  <a:schemeClr val="accent4"/>
                </a:solidFill>
              </a:rPr>
              <a:t>02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81" name="Google Shape;1781;p219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2" name="Google Shape;1782;p219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3" name="Google Shape;1783;p219">
            <a:hlinkClick r:id="" action="ppaction://noaction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4" name="Google Shape;1784;p219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5" name="Google Shape;1785;p2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pic>
        <p:nvPicPr>
          <p:cNvPr id="1786" name="Google Shape;1786;p219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220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220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fr"/>
              <a:t>Data Preparation</a:t>
            </a:r>
            <a:endParaRPr/>
          </a:p>
        </p:txBody>
      </p:sp>
      <p:sp>
        <p:nvSpPr>
          <p:cNvPr id="1793" name="Google Shape;1793;p220"/>
          <p:cNvSpPr/>
          <p:nvPr/>
        </p:nvSpPr>
        <p:spPr>
          <a:xfrm>
            <a:off x="8019150" y="22861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220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95" name="Google Shape;1795;p220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96" name="Google Shape;1796;p220">
            <a:hlinkClick r:id="" action="ppaction://noaction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97" name="Google Shape;1797;p220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98" name="Google Shape;1798;p2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sp>
        <p:nvSpPr>
          <p:cNvPr id="1799" name="Google Shape;1799;p220"/>
          <p:cNvSpPr txBox="1"/>
          <p:nvPr/>
        </p:nvSpPr>
        <p:spPr>
          <a:xfrm>
            <a:off x="1737163" y="1284375"/>
            <a:ext cx="55575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D0F22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00" name="Google Shape;1800;p220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220"/>
          <p:cNvSpPr txBox="1"/>
          <p:nvPr/>
        </p:nvSpPr>
        <p:spPr>
          <a:xfrm>
            <a:off x="104550" y="1106950"/>
            <a:ext cx="732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Objective: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To develop our own model to predict the target.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802" name="Google Shape;1802;p220"/>
          <p:cNvSpPr txBox="1"/>
          <p:nvPr/>
        </p:nvSpPr>
        <p:spPr>
          <a:xfrm>
            <a:off x="612925" y="1497725"/>
            <a:ext cx="6814800" cy="2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Time-Based Split for Performance Evaluation 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the issue_d column, we created a primary dataset to train our model on past data (2012-2015) and test its performance on future data (2016).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Dedicated Datasets for Stability Analysis 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To test for stability, a second, completely separate dataset from a later period (2017-2020) was created with train and test split . </a:t>
            </a:r>
            <a:r>
              <a:rPr lang="fr" i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(The proportion of default is approximately the same in each split) </a:t>
            </a:r>
            <a:endParaRPr i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Model Selection: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We chose LightGBM (LGBM) as our model.</a:t>
            </a:r>
            <a:endParaRPr i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221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221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/>
              <a:t>Performance analysis</a:t>
            </a:r>
            <a:endParaRPr/>
          </a:p>
        </p:txBody>
      </p:sp>
      <p:sp>
        <p:nvSpPr>
          <p:cNvPr id="1809" name="Google Shape;1809;p221"/>
          <p:cNvSpPr/>
          <p:nvPr/>
        </p:nvSpPr>
        <p:spPr>
          <a:xfrm>
            <a:off x="8019150" y="22861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221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11" name="Google Shape;1811;p221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12" name="Google Shape;1812;p221">
            <a:hlinkClick r:id="" action="ppaction://noaction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13" name="Google Shape;1813;p221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14" name="Google Shape;1814;p2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sp>
        <p:nvSpPr>
          <p:cNvPr id="1815" name="Google Shape;1815;p221"/>
          <p:cNvSpPr txBox="1"/>
          <p:nvPr/>
        </p:nvSpPr>
        <p:spPr>
          <a:xfrm>
            <a:off x="1737163" y="1284375"/>
            <a:ext cx="5557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pic>
        <p:nvPicPr>
          <p:cNvPr id="1816" name="Google Shape;1816;p221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221"/>
          <p:cNvSpPr txBox="1"/>
          <p:nvPr/>
        </p:nvSpPr>
        <p:spPr>
          <a:xfrm>
            <a:off x="104425" y="1091975"/>
            <a:ext cx="732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Objective: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We want to quantify the predictive performance of our LGBM model.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818" name="Google Shape;1818;p221"/>
          <p:cNvSpPr txBox="1"/>
          <p:nvPr/>
        </p:nvSpPr>
        <p:spPr>
          <a:xfrm>
            <a:off x="612925" y="1764900"/>
            <a:ext cx="681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i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19" name="Google Shape;1819;p2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4612" y="1566431"/>
            <a:ext cx="2828725" cy="27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221"/>
          <p:cNvSpPr txBox="1"/>
          <p:nvPr/>
        </p:nvSpPr>
        <p:spPr>
          <a:xfrm>
            <a:off x="4697975" y="4306750"/>
            <a:ext cx="2502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1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3: ROC AUC on the 2016 test set</a:t>
            </a:r>
            <a:endParaRPr sz="11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21" name="Google Shape;1821;p221"/>
          <p:cNvSpPr txBox="1"/>
          <p:nvPr/>
        </p:nvSpPr>
        <p:spPr>
          <a:xfrm>
            <a:off x="457675" y="2013113"/>
            <a:ext cx="3624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Result: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Our model achieved an AUC of 0.7177, outperforming the other model's AUC of 0.7109.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6" name="Google Shape;1826;p222"/>
          <p:cNvPicPr preferRelativeResize="0"/>
          <p:nvPr/>
        </p:nvPicPr>
        <p:blipFill rotWithShape="1">
          <a:blip r:embed="rId3">
            <a:alphaModFix/>
          </a:blip>
          <a:srcRect l="1822" r="1735"/>
          <a:stretch/>
        </p:blipFill>
        <p:spPr>
          <a:xfrm>
            <a:off x="3847775" y="2087250"/>
            <a:ext cx="4005275" cy="176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Google Shape;1827;p222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222"/>
          <p:cNvSpPr txBox="1">
            <a:spLocks noGrp="1"/>
          </p:cNvSpPr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/>
              <a:t>Stability analysis</a:t>
            </a:r>
            <a:endParaRPr/>
          </a:p>
        </p:txBody>
      </p:sp>
      <p:sp>
        <p:nvSpPr>
          <p:cNvPr id="1829" name="Google Shape;1829;p222"/>
          <p:cNvSpPr/>
          <p:nvPr/>
        </p:nvSpPr>
        <p:spPr>
          <a:xfrm>
            <a:off x="8019150" y="22861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222">
            <a:hlinkClick r:id="rId4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31" name="Google Shape;1831;p222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32" name="Google Shape;1832;p222">
            <a:hlinkClick r:id="" action="ppaction://noaction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33" name="Google Shape;1833;p222">
            <a:hlinkClick r:id="rId4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34" name="Google Shape;1834;p2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1835" name="Google Shape;1835;p222"/>
          <p:cNvSpPr txBox="1"/>
          <p:nvPr/>
        </p:nvSpPr>
        <p:spPr>
          <a:xfrm>
            <a:off x="1737163" y="1284375"/>
            <a:ext cx="5557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pic>
        <p:nvPicPr>
          <p:cNvPr id="1836" name="Google Shape;1836;p222" title="HEC_Paris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222"/>
          <p:cNvSpPr txBox="1"/>
          <p:nvPr/>
        </p:nvSpPr>
        <p:spPr>
          <a:xfrm>
            <a:off x="104425" y="1091975"/>
            <a:ext cx="732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Objective: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We train the model on the other split of the data that we didn’t touch for now 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838" name="Google Shape;1838;p222"/>
          <p:cNvSpPr txBox="1"/>
          <p:nvPr/>
        </p:nvSpPr>
        <p:spPr>
          <a:xfrm>
            <a:off x="104425" y="1488075"/>
            <a:ext cx="7670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Results: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Pearson correlation between feature importances is 0.9657. The top 10 keeps almost all the same features.</a:t>
            </a:r>
            <a:endParaRPr sz="9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839" name="Google Shape;1839;p222"/>
          <p:cNvSpPr txBox="1"/>
          <p:nvPr/>
        </p:nvSpPr>
        <p:spPr>
          <a:xfrm>
            <a:off x="735150" y="4306750"/>
            <a:ext cx="29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40" name="Google Shape;1840;p2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675" y="2666418"/>
            <a:ext cx="3119225" cy="812994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222"/>
          <p:cNvSpPr txBox="1"/>
          <p:nvPr/>
        </p:nvSpPr>
        <p:spPr>
          <a:xfrm>
            <a:off x="465675" y="3646000"/>
            <a:ext cx="311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0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4 : AUC and Accuracy over the datasets</a:t>
            </a:r>
            <a:endParaRPr sz="1000" b="1" u="sng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42" name="Google Shape;1842;p222"/>
          <p:cNvSpPr txBox="1"/>
          <p:nvPr/>
        </p:nvSpPr>
        <p:spPr>
          <a:xfrm>
            <a:off x="4294675" y="40794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0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5 : Top 10 features over the datasets</a:t>
            </a:r>
            <a:endParaRPr sz="1000" b="1" u="sng"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223"/>
          <p:cNvSpPr/>
          <p:nvPr/>
        </p:nvSpPr>
        <p:spPr>
          <a:xfrm>
            <a:off x="942975" y="1454763"/>
            <a:ext cx="837300" cy="837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223"/>
          <p:cNvSpPr/>
          <p:nvPr/>
        </p:nvSpPr>
        <p:spPr>
          <a:xfrm>
            <a:off x="6858328" y="2909476"/>
            <a:ext cx="336723" cy="337013"/>
          </a:xfrm>
          <a:custGeom>
            <a:avLst/>
            <a:gdLst/>
            <a:ahLst/>
            <a:cxnLst/>
            <a:rect l="l" t="t" r="r" b="b"/>
            <a:pathLst>
              <a:path w="18565" h="18581" extrusionOk="0">
                <a:moveTo>
                  <a:pt x="15647" y="1454"/>
                </a:moveTo>
                <a:cubicBezTo>
                  <a:pt x="16021" y="1454"/>
                  <a:pt x="16397" y="1593"/>
                  <a:pt x="16687" y="1871"/>
                </a:cubicBezTo>
                <a:cubicBezTo>
                  <a:pt x="16942" y="2150"/>
                  <a:pt x="17104" y="2520"/>
                  <a:pt x="17104" y="2891"/>
                </a:cubicBezTo>
                <a:cubicBezTo>
                  <a:pt x="17104" y="3285"/>
                  <a:pt x="16965" y="3656"/>
                  <a:pt x="16687" y="3934"/>
                </a:cubicBezTo>
                <a:lnTo>
                  <a:pt x="5331" y="15336"/>
                </a:lnTo>
                <a:lnTo>
                  <a:pt x="3268" y="13274"/>
                </a:lnTo>
                <a:lnTo>
                  <a:pt x="11055" y="5464"/>
                </a:lnTo>
                <a:lnTo>
                  <a:pt x="12237" y="6646"/>
                </a:lnTo>
                <a:lnTo>
                  <a:pt x="13257" y="5626"/>
                </a:lnTo>
                <a:lnTo>
                  <a:pt x="12075" y="4444"/>
                </a:lnTo>
                <a:lnTo>
                  <a:pt x="13164" y="3331"/>
                </a:lnTo>
                <a:lnTo>
                  <a:pt x="14369" y="4513"/>
                </a:lnTo>
                <a:lnTo>
                  <a:pt x="15389" y="3494"/>
                </a:lnTo>
                <a:lnTo>
                  <a:pt x="14184" y="2312"/>
                </a:lnTo>
                <a:lnTo>
                  <a:pt x="14624" y="1871"/>
                </a:lnTo>
                <a:cubicBezTo>
                  <a:pt x="14902" y="1593"/>
                  <a:pt x="15273" y="1454"/>
                  <a:pt x="15647" y="1454"/>
                </a:cubicBezTo>
                <a:close/>
                <a:moveTo>
                  <a:pt x="2411" y="14479"/>
                </a:moveTo>
                <a:lnTo>
                  <a:pt x="4103" y="16171"/>
                </a:lnTo>
                <a:lnTo>
                  <a:pt x="2550" y="16518"/>
                </a:lnTo>
                <a:lnTo>
                  <a:pt x="2063" y="16031"/>
                </a:lnTo>
                <a:lnTo>
                  <a:pt x="2411" y="14479"/>
                </a:lnTo>
                <a:close/>
                <a:moveTo>
                  <a:pt x="15647" y="0"/>
                </a:moveTo>
                <a:cubicBezTo>
                  <a:pt x="14902" y="0"/>
                  <a:pt x="14161" y="284"/>
                  <a:pt x="13605" y="852"/>
                </a:cubicBezTo>
                <a:lnTo>
                  <a:pt x="1901" y="12602"/>
                </a:lnTo>
                <a:cubicBezTo>
                  <a:pt x="1507" y="12972"/>
                  <a:pt x="1229" y="13459"/>
                  <a:pt x="1044" y="13946"/>
                </a:cubicBezTo>
                <a:lnTo>
                  <a:pt x="1044" y="13992"/>
                </a:lnTo>
                <a:lnTo>
                  <a:pt x="1" y="18581"/>
                </a:lnTo>
                <a:lnTo>
                  <a:pt x="4613" y="17561"/>
                </a:lnTo>
                <a:lnTo>
                  <a:pt x="4636" y="17538"/>
                </a:lnTo>
                <a:cubicBezTo>
                  <a:pt x="5146" y="17376"/>
                  <a:pt x="5632" y="17074"/>
                  <a:pt x="6003" y="16704"/>
                </a:cubicBezTo>
                <a:lnTo>
                  <a:pt x="17707" y="4954"/>
                </a:lnTo>
                <a:cubicBezTo>
                  <a:pt x="18263" y="4398"/>
                  <a:pt x="18564" y="3679"/>
                  <a:pt x="18564" y="2891"/>
                </a:cubicBezTo>
                <a:cubicBezTo>
                  <a:pt x="18564" y="2126"/>
                  <a:pt x="18263" y="1385"/>
                  <a:pt x="17707" y="852"/>
                </a:cubicBezTo>
                <a:cubicBezTo>
                  <a:pt x="17139" y="284"/>
                  <a:pt x="16391" y="0"/>
                  <a:pt x="15647" y="0"/>
                </a:cubicBezTo>
                <a:close/>
                <a:moveTo>
                  <a:pt x="7625" y="17121"/>
                </a:moveTo>
                <a:lnTo>
                  <a:pt x="6189" y="18581"/>
                </a:lnTo>
                <a:lnTo>
                  <a:pt x="18564" y="18581"/>
                </a:lnTo>
                <a:lnTo>
                  <a:pt x="18564" y="1712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223"/>
          <p:cNvSpPr/>
          <p:nvPr/>
        </p:nvSpPr>
        <p:spPr>
          <a:xfrm flipH="1">
            <a:off x="6858346" y="3683886"/>
            <a:ext cx="336704" cy="336704"/>
          </a:xfrm>
          <a:custGeom>
            <a:avLst/>
            <a:gdLst/>
            <a:ahLst/>
            <a:cxnLst/>
            <a:rect l="l" t="t" r="r" b="b"/>
            <a:pathLst>
              <a:path w="18587" h="18587" extrusionOk="0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223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223"/>
          <p:cNvSpPr txBox="1">
            <a:spLocks noGrp="1"/>
          </p:cNvSpPr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5300"/>
              <a:t>Interpretability </a:t>
            </a:r>
            <a:endParaRPr sz="5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endParaRPr sz="8900"/>
          </a:p>
        </p:txBody>
      </p:sp>
      <p:sp>
        <p:nvSpPr>
          <p:cNvPr id="1852" name="Google Shape;1852;p223"/>
          <p:cNvSpPr txBox="1">
            <a:spLocks noGrp="1"/>
          </p:cNvSpPr>
          <p:nvPr>
            <p:ph type="title" idx="2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>
                <a:solidFill>
                  <a:schemeClr val="accent4"/>
                </a:solidFill>
              </a:rPr>
              <a:t>03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853" name="Google Shape;1853;p223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223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5" name="Google Shape;1855;p223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6" name="Google Shape;1856;p223">
            <a:hlinkClick r:id="rId3" action="ppaction://hlinksldjump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7" name="Google Shape;1857;p223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8" name="Google Shape;1858;p2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1859" name="Google Shape;1859;p223"/>
          <p:cNvSpPr txBox="1"/>
          <p:nvPr/>
        </p:nvSpPr>
        <p:spPr>
          <a:xfrm>
            <a:off x="942975" y="3363725"/>
            <a:ext cx="3839700" cy="14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Global interpretability </a:t>
            </a:r>
            <a:endParaRPr sz="16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Local interpretability </a:t>
            </a:r>
            <a:endParaRPr sz="16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Performance / Predictions drivers</a:t>
            </a:r>
            <a:endParaRPr sz="16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60" name="Google Shape;1860;p223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224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224"/>
          <p:cNvSpPr txBox="1">
            <a:spLocks noGrp="1"/>
          </p:cNvSpPr>
          <p:nvPr>
            <p:ph type="title"/>
          </p:nvPr>
        </p:nvSpPr>
        <p:spPr>
          <a:xfrm>
            <a:off x="556825" y="789032"/>
            <a:ext cx="59226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3300"/>
              <a:t>Global interpretability </a:t>
            </a:r>
            <a:endParaRPr/>
          </a:p>
        </p:txBody>
      </p:sp>
      <p:sp>
        <p:nvSpPr>
          <p:cNvPr id="1867" name="Google Shape;1867;p224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224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69" name="Google Shape;1869;p224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70" name="Google Shape;1870;p224">
            <a:hlinkClick r:id="rId3" action="ppaction://hlinksldjump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71" name="Google Shape;1871;p224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72" name="Google Shape;1872;p2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pic>
        <p:nvPicPr>
          <p:cNvPr id="1873" name="Google Shape;1873;p224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74" name="Google Shape;1874;p224"/>
          <p:cNvSpPr txBox="1"/>
          <p:nvPr/>
        </p:nvSpPr>
        <p:spPr>
          <a:xfrm>
            <a:off x="457675" y="1254325"/>
            <a:ext cx="7432800" cy="7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Methodology: 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Training of surrogate models (Linear Regression, Decision Tree) to predict the output for our trained model and compare it to the surrogate models of the unknown model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Results:</a:t>
            </a:r>
            <a:endParaRPr sz="18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            </a:t>
            </a:r>
            <a:endParaRPr sz="18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75" name="Google Shape;1875;p224"/>
          <p:cNvSpPr txBox="1"/>
          <p:nvPr/>
        </p:nvSpPr>
        <p:spPr>
          <a:xfrm flipH="1">
            <a:off x="4572000" y="1907400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76" name="Google Shape;1876;p224"/>
          <p:cNvSpPr txBox="1"/>
          <p:nvPr/>
        </p:nvSpPr>
        <p:spPr>
          <a:xfrm>
            <a:off x="457675" y="2398400"/>
            <a:ext cx="311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877" name="Google Shape;1877;p224"/>
          <p:cNvSpPr txBox="1"/>
          <p:nvPr/>
        </p:nvSpPr>
        <p:spPr>
          <a:xfrm>
            <a:off x="4523263" y="2053825"/>
            <a:ext cx="3000000" cy="24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Unknown Model: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Linear surrogate captures 96.43% of variance → suggests simpler, linear decision boundary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LGBM Model: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Linear surrogate captures 90.76% of variance → more complex, non-linear relationships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tree R2 is approximately the same for the surrogate of both models 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78" name="Google Shape;1878;p2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675" y="2398388"/>
            <a:ext cx="3986750" cy="12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224"/>
          <p:cNvSpPr txBox="1"/>
          <p:nvPr/>
        </p:nvSpPr>
        <p:spPr>
          <a:xfrm>
            <a:off x="457675" y="3708275"/>
            <a:ext cx="356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6 : Linear and Tree R2 across models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225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225"/>
          <p:cNvSpPr txBox="1">
            <a:spLocks noGrp="1"/>
          </p:cNvSpPr>
          <p:nvPr>
            <p:ph type="title"/>
          </p:nvPr>
        </p:nvSpPr>
        <p:spPr>
          <a:xfrm>
            <a:off x="556825" y="789032"/>
            <a:ext cx="59226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3300"/>
              <a:t>Global interpretability </a:t>
            </a:r>
            <a:endParaRPr/>
          </a:p>
        </p:txBody>
      </p:sp>
      <p:sp>
        <p:nvSpPr>
          <p:cNvPr id="1886" name="Google Shape;1886;p225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225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88" name="Google Shape;1888;p225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89" name="Google Shape;1889;p225">
            <a:hlinkClick r:id="rId3" action="ppaction://hlinksldjump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90" name="Google Shape;1890;p225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91" name="Google Shape;1891;p2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pic>
        <p:nvPicPr>
          <p:cNvPr id="1892" name="Google Shape;1892;p225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225"/>
          <p:cNvSpPr txBox="1"/>
          <p:nvPr/>
        </p:nvSpPr>
        <p:spPr>
          <a:xfrm>
            <a:off x="457675" y="1254325"/>
            <a:ext cx="7432800" cy="7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partial dependence plots to gain a better understanding of the average effect of each feature on the predicted outcome : 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            </a:t>
            </a:r>
            <a:endParaRPr sz="18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94" name="Google Shape;1894;p225"/>
          <p:cNvSpPr txBox="1"/>
          <p:nvPr/>
        </p:nvSpPr>
        <p:spPr>
          <a:xfrm flipH="1">
            <a:off x="4572000" y="1907400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95" name="Google Shape;1895;p225"/>
          <p:cNvSpPr txBox="1"/>
          <p:nvPr/>
        </p:nvSpPr>
        <p:spPr>
          <a:xfrm>
            <a:off x="457675" y="2398400"/>
            <a:ext cx="311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1896" name="Google Shape;1896;p2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9975" y="1907400"/>
            <a:ext cx="3111900" cy="232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7" name="Google Shape;1897;p2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8800" y="1907000"/>
            <a:ext cx="3111899" cy="232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226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226"/>
          <p:cNvSpPr txBox="1">
            <a:spLocks noGrp="1"/>
          </p:cNvSpPr>
          <p:nvPr>
            <p:ph type="title"/>
          </p:nvPr>
        </p:nvSpPr>
        <p:spPr>
          <a:xfrm>
            <a:off x="556825" y="269386"/>
            <a:ext cx="59226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3300"/>
              <a:t>Local interpretability </a:t>
            </a:r>
            <a:endParaRPr/>
          </a:p>
        </p:txBody>
      </p:sp>
      <p:sp>
        <p:nvSpPr>
          <p:cNvPr id="1904" name="Google Shape;1904;p226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226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6" name="Google Shape;1906;p226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7" name="Google Shape;1907;p226">
            <a:hlinkClick r:id="rId3" action="ppaction://hlinksldjump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8" name="Google Shape;1908;p226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9" name="Google Shape;1909;p2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pic>
        <p:nvPicPr>
          <p:cNvPr id="1910" name="Google Shape;1910;p226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226"/>
          <p:cNvSpPr txBox="1"/>
          <p:nvPr/>
        </p:nvSpPr>
        <p:spPr>
          <a:xfrm>
            <a:off x="457675" y="713277"/>
            <a:ext cx="74328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 b="1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Approach</a:t>
            </a:r>
            <a:r>
              <a:rPr lang="fr" sz="12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: Use global interpretability results and compare True Positive &amp; False Negative records</a:t>
            </a:r>
            <a:endParaRPr sz="12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12" name="Google Shape;1912;p226"/>
          <p:cNvSpPr txBox="1"/>
          <p:nvPr/>
        </p:nvSpPr>
        <p:spPr>
          <a:xfrm flipH="1">
            <a:off x="4572000" y="1907400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13" name="Google Shape;1913;p226"/>
          <p:cNvSpPr txBox="1"/>
          <p:nvPr/>
        </p:nvSpPr>
        <p:spPr>
          <a:xfrm>
            <a:off x="4523263" y="20538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14" name="Google Shape;1914;p226"/>
          <p:cNvSpPr txBox="1"/>
          <p:nvPr/>
        </p:nvSpPr>
        <p:spPr>
          <a:xfrm>
            <a:off x="457675" y="3708275"/>
            <a:ext cx="356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15" name="Google Shape;1915;p226"/>
          <p:cNvGrpSpPr/>
          <p:nvPr/>
        </p:nvGrpSpPr>
        <p:grpSpPr>
          <a:xfrm>
            <a:off x="538687" y="1419571"/>
            <a:ext cx="3211451" cy="1355826"/>
            <a:chOff x="602900" y="1794150"/>
            <a:chExt cx="3211451" cy="1355826"/>
          </a:xfrm>
        </p:grpSpPr>
        <p:pic>
          <p:nvPicPr>
            <p:cNvPr id="1916" name="Google Shape;1916;p226" title="198k case lime.png"/>
            <p:cNvPicPr preferRelativeResize="0"/>
            <p:nvPr/>
          </p:nvPicPr>
          <p:blipFill rotWithShape="1">
            <a:blip r:embed="rId5">
              <a:alphaModFix/>
            </a:blip>
            <a:srcRect l="1372" r="3289" b="59929"/>
            <a:stretch/>
          </p:blipFill>
          <p:spPr>
            <a:xfrm>
              <a:off x="602900" y="1794150"/>
              <a:ext cx="3211451" cy="967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7" name="Google Shape;1917;p226" title="198k case lime.png"/>
            <p:cNvPicPr preferRelativeResize="0"/>
            <p:nvPr/>
          </p:nvPicPr>
          <p:blipFill rotWithShape="1">
            <a:blip r:embed="rId5">
              <a:alphaModFix/>
            </a:blip>
            <a:srcRect l="1363" t="76315" r="3307" b="530"/>
            <a:stretch/>
          </p:blipFill>
          <p:spPr>
            <a:xfrm>
              <a:off x="602900" y="2590675"/>
              <a:ext cx="3211451" cy="5593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8" name="Google Shape;1918;p226"/>
          <p:cNvGrpSpPr/>
          <p:nvPr/>
        </p:nvGrpSpPr>
        <p:grpSpPr>
          <a:xfrm>
            <a:off x="4199721" y="1415735"/>
            <a:ext cx="3348346" cy="1278887"/>
            <a:chOff x="4241000" y="1787254"/>
            <a:chExt cx="3649821" cy="1394034"/>
          </a:xfrm>
        </p:grpSpPr>
        <p:pic>
          <p:nvPicPr>
            <p:cNvPr id="1919" name="Google Shape;1919;p226" title="zip cluster lime.png"/>
            <p:cNvPicPr preferRelativeResize="0"/>
            <p:nvPr/>
          </p:nvPicPr>
          <p:blipFill rotWithShape="1">
            <a:blip r:embed="rId6">
              <a:alphaModFix/>
            </a:blip>
            <a:srcRect l="2336" t="738" r="2316" b="62888"/>
            <a:stretch/>
          </p:blipFill>
          <p:spPr>
            <a:xfrm>
              <a:off x="4241000" y="1787254"/>
              <a:ext cx="3649475" cy="10572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0" name="Google Shape;1920;p226" title="zip cluster lime.png"/>
            <p:cNvPicPr preferRelativeResize="0"/>
            <p:nvPr/>
          </p:nvPicPr>
          <p:blipFill rotWithShape="1">
            <a:blip r:embed="rId6">
              <a:alphaModFix/>
            </a:blip>
            <a:srcRect l="2336" t="80538" r="2316" b="3455"/>
            <a:stretch/>
          </p:blipFill>
          <p:spPr>
            <a:xfrm>
              <a:off x="4241346" y="2716037"/>
              <a:ext cx="3649475" cy="4652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1" name="Google Shape;1921;p226"/>
          <p:cNvSpPr txBox="1"/>
          <p:nvPr/>
        </p:nvSpPr>
        <p:spPr>
          <a:xfrm>
            <a:off x="356010" y="944949"/>
            <a:ext cx="74328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●"/>
            </a:pPr>
            <a:r>
              <a:rPr lang="fr" sz="1200" b="1" u="sng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From PDP</a:t>
            </a:r>
            <a:r>
              <a:rPr lang="fr" sz="12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: Annual incomes above 120k, interest rates, and sub-grades </a:t>
            </a:r>
            <a:endParaRPr sz="12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22" name="Google Shape;1922;p226"/>
          <p:cNvGrpSpPr/>
          <p:nvPr/>
        </p:nvGrpSpPr>
        <p:grpSpPr>
          <a:xfrm>
            <a:off x="495471" y="2977995"/>
            <a:ext cx="3211589" cy="1725630"/>
            <a:chOff x="581900" y="2844475"/>
            <a:chExt cx="3125026" cy="1725630"/>
          </a:xfrm>
        </p:grpSpPr>
        <p:pic>
          <p:nvPicPr>
            <p:cNvPr id="1923" name="Google Shape;1923;p226" title="198k case shap.png"/>
            <p:cNvPicPr preferRelativeResize="0"/>
            <p:nvPr/>
          </p:nvPicPr>
          <p:blipFill rotWithShape="1">
            <a:blip r:embed="rId7">
              <a:alphaModFix/>
            </a:blip>
            <a:srcRect b="37059"/>
            <a:stretch/>
          </p:blipFill>
          <p:spPr>
            <a:xfrm>
              <a:off x="581900" y="2844475"/>
              <a:ext cx="3125026" cy="1666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4" name="Google Shape;1924;p226" title="198k case shap.png"/>
            <p:cNvPicPr preferRelativeResize="0"/>
            <p:nvPr/>
          </p:nvPicPr>
          <p:blipFill rotWithShape="1">
            <a:blip r:embed="rId7">
              <a:alphaModFix/>
            </a:blip>
            <a:srcRect t="91207" b="3936"/>
            <a:stretch/>
          </p:blipFill>
          <p:spPr>
            <a:xfrm>
              <a:off x="581904" y="4441529"/>
              <a:ext cx="3125012" cy="12857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25" name="Google Shape;1925;p226"/>
          <p:cNvCxnSpPr/>
          <p:nvPr/>
        </p:nvCxnSpPr>
        <p:spPr>
          <a:xfrm>
            <a:off x="3963600" y="1447200"/>
            <a:ext cx="3600" cy="338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926" name="Google Shape;1926;p226"/>
          <p:cNvSpPr txBox="1"/>
          <p:nvPr/>
        </p:nvSpPr>
        <p:spPr>
          <a:xfrm>
            <a:off x="495476" y="2911050"/>
            <a:ext cx="46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900" b="1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SHAP</a:t>
            </a:r>
            <a:endParaRPr sz="9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27" name="Google Shape;1927;p226"/>
          <p:cNvSpPr txBox="1"/>
          <p:nvPr/>
        </p:nvSpPr>
        <p:spPr>
          <a:xfrm>
            <a:off x="4101881" y="2902905"/>
            <a:ext cx="46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900" b="1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SHAP</a:t>
            </a:r>
            <a:endParaRPr sz="9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28" name="Google Shape;1928;p226"/>
          <p:cNvGrpSpPr/>
          <p:nvPr/>
        </p:nvGrpSpPr>
        <p:grpSpPr>
          <a:xfrm>
            <a:off x="4294750" y="3109675"/>
            <a:ext cx="3136699" cy="1640176"/>
            <a:chOff x="4294750" y="3109675"/>
            <a:chExt cx="3136699" cy="1640176"/>
          </a:xfrm>
        </p:grpSpPr>
        <p:pic>
          <p:nvPicPr>
            <p:cNvPr id="1929" name="Google Shape;1929;p226" title="shap for 323.png"/>
            <p:cNvPicPr preferRelativeResize="0"/>
            <p:nvPr/>
          </p:nvPicPr>
          <p:blipFill rotWithShape="1">
            <a:blip r:embed="rId8">
              <a:alphaModFix/>
            </a:blip>
            <a:srcRect b="41517"/>
            <a:stretch/>
          </p:blipFill>
          <p:spPr>
            <a:xfrm>
              <a:off x="4294750" y="3109675"/>
              <a:ext cx="3136699" cy="150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0" name="Google Shape;1930;p226" title="shap for 323.png"/>
            <p:cNvPicPr preferRelativeResize="0"/>
            <p:nvPr/>
          </p:nvPicPr>
          <p:blipFill rotWithShape="1">
            <a:blip r:embed="rId8">
              <a:alphaModFix/>
            </a:blip>
            <a:srcRect t="90902" b="2192"/>
            <a:stretch/>
          </p:blipFill>
          <p:spPr>
            <a:xfrm>
              <a:off x="4294750" y="4572076"/>
              <a:ext cx="3136699" cy="177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227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227"/>
          <p:cNvSpPr txBox="1">
            <a:spLocks noGrp="1"/>
          </p:cNvSpPr>
          <p:nvPr>
            <p:ph type="title"/>
          </p:nvPr>
        </p:nvSpPr>
        <p:spPr>
          <a:xfrm>
            <a:off x="556825" y="269386"/>
            <a:ext cx="59226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3300"/>
              <a:t>Local interpretability </a:t>
            </a:r>
            <a:endParaRPr/>
          </a:p>
        </p:txBody>
      </p:sp>
      <p:sp>
        <p:nvSpPr>
          <p:cNvPr id="1937" name="Google Shape;1937;p227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227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39" name="Google Shape;1939;p227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40" name="Google Shape;1940;p227">
            <a:hlinkClick r:id="rId3" action="ppaction://hlinksldjump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41" name="Google Shape;1941;p227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42" name="Google Shape;1942;p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pic>
        <p:nvPicPr>
          <p:cNvPr id="1943" name="Google Shape;1943;p227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227"/>
          <p:cNvSpPr txBox="1"/>
          <p:nvPr/>
        </p:nvSpPr>
        <p:spPr>
          <a:xfrm>
            <a:off x="457675" y="713277"/>
            <a:ext cx="74328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 b="1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Approach</a:t>
            </a:r>
            <a:r>
              <a:rPr lang="fr" sz="12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: Use global interpretability results and compare True Positive &amp; False Negative records</a:t>
            </a:r>
            <a:endParaRPr sz="12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45" name="Google Shape;1945;p227"/>
          <p:cNvSpPr txBox="1"/>
          <p:nvPr/>
        </p:nvSpPr>
        <p:spPr>
          <a:xfrm flipH="1">
            <a:off x="4572000" y="1907400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46" name="Google Shape;1946;p227"/>
          <p:cNvSpPr txBox="1"/>
          <p:nvPr/>
        </p:nvSpPr>
        <p:spPr>
          <a:xfrm>
            <a:off x="4523263" y="20538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47" name="Google Shape;1947;p227"/>
          <p:cNvSpPr txBox="1"/>
          <p:nvPr/>
        </p:nvSpPr>
        <p:spPr>
          <a:xfrm>
            <a:off x="457675" y="3708275"/>
            <a:ext cx="356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48" name="Google Shape;1948;p227"/>
          <p:cNvSpPr txBox="1"/>
          <p:nvPr/>
        </p:nvSpPr>
        <p:spPr>
          <a:xfrm>
            <a:off x="356010" y="926977"/>
            <a:ext cx="74328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●"/>
            </a:pPr>
            <a:r>
              <a:rPr lang="fr" sz="1200" b="1" u="sng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True Positive and False negative</a:t>
            </a:r>
            <a:endParaRPr sz="1200" b="1" u="sng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1949" name="Google Shape;1949;p227"/>
          <p:cNvCxnSpPr/>
          <p:nvPr/>
        </p:nvCxnSpPr>
        <p:spPr>
          <a:xfrm>
            <a:off x="4068143" y="1447200"/>
            <a:ext cx="3600" cy="338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950" name="Google Shape;1950;p227"/>
          <p:cNvSpPr txBox="1"/>
          <p:nvPr/>
        </p:nvSpPr>
        <p:spPr>
          <a:xfrm>
            <a:off x="4101881" y="2902905"/>
            <a:ext cx="46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900" b="1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SHAP</a:t>
            </a:r>
            <a:endParaRPr sz="9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51" name="Google Shape;1951;p227"/>
          <p:cNvGrpSpPr/>
          <p:nvPr/>
        </p:nvGrpSpPr>
        <p:grpSpPr>
          <a:xfrm>
            <a:off x="333010" y="1273200"/>
            <a:ext cx="3571998" cy="1535293"/>
            <a:chOff x="472400" y="1273200"/>
            <a:chExt cx="3571998" cy="1535293"/>
          </a:xfrm>
        </p:grpSpPr>
        <p:pic>
          <p:nvPicPr>
            <p:cNvPr id="1952" name="Google Shape;1952;p227"/>
            <p:cNvPicPr preferRelativeResize="0"/>
            <p:nvPr/>
          </p:nvPicPr>
          <p:blipFill rotWithShape="1">
            <a:blip r:embed="rId5">
              <a:alphaModFix/>
            </a:blip>
            <a:srcRect b="59910"/>
            <a:stretch/>
          </p:blipFill>
          <p:spPr>
            <a:xfrm>
              <a:off x="472400" y="1273200"/>
              <a:ext cx="3569701" cy="1062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3" name="Google Shape;1953;p227"/>
            <p:cNvPicPr preferRelativeResize="0"/>
            <p:nvPr/>
          </p:nvPicPr>
          <p:blipFill rotWithShape="1">
            <a:blip r:embed="rId5">
              <a:alphaModFix/>
            </a:blip>
            <a:srcRect t="84208" b="-1766"/>
            <a:stretch/>
          </p:blipFill>
          <p:spPr>
            <a:xfrm>
              <a:off x="474697" y="2343244"/>
              <a:ext cx="3569701" cy="465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4" name="Google Shape;1954;p227"/>
          <p:cNvGrpSpPr/>
          <p:nvPr/>
        </p:nvGrpSpPr>
        <p:grpSpPr>
          <a:xfrm>
            <a:off x="4133154" y="1286830"/>
            <a:ext cx="3521675" cy="1442452"/>
            <a:chOff x="4467000" y="1290225"/>
            <a:chExt cx="3098975" cy="1269317"/>
          </a:xfrm>
        </p:grpSpPr>
        <p:pic>
          <p:nvPicPr>
            <p:cNvPr id="1955" name="Google Shape;1955;p227" title="11 true negative.png"/>
            <p:cNvPicPr preferRelativeResize="0"/>
            <p:nvPr/>
          </p:nvPicPr>
          <p:blipFill rotWithShape="1">
            <a:blip r:embed="rId6">
              <a:alphaModFix/>
            </a:blip>
            <a:srcRect b="60628"/>
            <a:stretch/>
          </p:blipFill>
          <p:spPr>
            <a:xfrm>
              <a:off x="4467000" y="1290225"/>
              <a:ext cx="3097850" cy="901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6" name="Google Shape;1956;p227" title="11 true negative.png"/>
            <p:cNvPicPr preferRelativeResize="0"/>
            <p:nvPr/>
          </p:nvPicPr>
          <p:blipFill rotWithShape="1">
            <a:blip r:embed="rId6">
              <a:alphaModFix/>
            </a:blip>
            <a:srcRect t="83863"/>
            <a:stretch/>
          </p:blipFill>
          <p:spPr>
            <a:xfrm>
              <a:off x="4468125" y="2190243"/>
              <a:ext cx="3097850" cy="369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7" name="Google Shape;1957;p227"/>
          <p:cNvGrpSpPr/>
          <p:nvPr/>
        </p:nvGrpSpPr>
        <p:grpSpPr>
          <a:xfrm>
            <a:off x="379975" y="2995995"/>
            <a:ext cx="3605275" cy="1810305"/>
            <a:chOff x="830737" y="2293539"/>
            <a:chExt cx="3605275" cy="1810305"/>
          </a:xfrm>
        </p:grpSpPr>
        <p:pic>
          <p:nvPicPr>
            <p:cNvPr id="1958" name="Google Shape;1958;p227" title="8 shap.png"/>
            <p:cNvPicPr preferRelativeResize="0"/>
            <p:nvPr/>
          </p:nvPicPr>
          <p:blipFill rotWithShape="1">
            <a:blip r:embed="rId7">
              <a:alphaModFix/>
            </a:blip>
            <a:srcRect l="5138" t="2772" r="8498" b="48330"/>
            <a:stretch/>
          </p:blipFill>
          <p:spPr>
            <a:xfrm>
              <a:off x="830738" y="2293539"/>
              <a:ext cx="3572000" cy="1655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9" name="Google Shape;1959;p227" title="8 shap.png"/>
            <p:cNvPicPr preferRelativeResize="0"/>
            <p:nvPr/>
          </p:nvPicPr>
          <p:blipFill rotWithShape="1">
            <a:blip r:embed="rId7">
              <a:alphaModFix/>
            </a:blip>
            <a:srcRect l="5413" t="93133" r="7409" b="1939"/>
            <a:stretch/>
          </p:blipFill>
          <p:spPr>
            <a:xfrm>
              <a:off x="830737" y="3937019"/>
              <a:ext cx="3605275" cy="166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0" name="Google Shape;1960;p227"/>
          <p:cNvSpPr txBox="1"/>
          <p:nvPr/>
        </p:nvSpPr>
        <p:spPr>
          <a:xfrm>
            <a:off x="495476" y="2911050"/>
            <a:ext cx="46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900" b="1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SHAP</a:t>
            </a:r>
            <a:endParaRPr sz="9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61" name="Google Shape;1961;p227"/>
          <p:cNvGrpSpPr/>
          <p:nvPr/>
        </p:nvGrpSpPr>
        <p:grpSpPr>
          <a:xfrm>
            <a:off x="4154650" y="3215674"/>
            <a:ext cx="3557619" cy="1589141"/>
            <a:chOff x="4154650" y="3149974"/>
            <a:chExt cx="3557619" cy="1589141"/>
          </a:xfrm>
        </p:grpSpPr>
        <p:pic>
          <p:nvPicPr>
            <p:cNvPr id="1962" name="Google Shape;1962;p227" title="11 shap true negative.png"/>
            <p:cNvPicPr preferRelativeResize="0"/>
            <p:nvPr/>
          </p:nvPicPr>
          <p:blipFill rotWithShape="1">
            <a:blip r:embed="rId8">
              <a:alphaModFix/>
            </a:blip>
            <a:srcRect t="5478" b="43367"/>
            <a:stretch/>
          </p:blipFill>
          <p:spPr>
            <a:xfrm>
              <a:off x="4154650" y="3149974"/>
              <a:ext cx="3521675" cy="1535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3" name="Google Shape;1963;p227" title="11 shap true negative.png"/>
            <p:cNvPicPr preferRelativeResize="0"/>
            <p:nvPr/>
          </p:nvPicPr>
          <p:blipFill rotWithShape="1">
            <a:blip r:embed="rId8">
              <a:alphaModFix/>
            </a:blip>
            <a:srcRect t="90921" b="3091"/>
            <a:stretch/>
          </p:blipFill>
          <p:spPr>
            <a:xfrm>
              <a:off x="4190593" y="4559416"/>
              <a:ext cx="3521675" cy="179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228"/>
          <p:cNvSpPr txBox="1">
            <a:spLocks noGrp="1"/>
          </p:cNvSpPr>
          <p:nvPr>
            <p:ph type="title"/>
          </p:nvPr>
        </p:nvSpPr>
        <p:spPr>
          <a:xfrm>
            <a:off x="1682700" y="426075"/>
            <a:ext cx="5778600" cy="8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2300"/>
              <a:t>Performance Interpretability (Permutation Importance)</a:t>
            </a:r>
            <a:endParaRPr sz="2300"/>
          </a:p>
        </p:txBody>
      </p:sp>
      <p:sp>
        <p:nvSpPr>
          <p:cNvPr id="1969" name="Google Shape;1969;p228"/>
          <p:cNvSpPr txBox="1">
            <a:spLocks noGrp="1"/>
          </p:cNvSpPr>
          <p:nvPr>
            <p:ph type="title" idx="2"/>
          </p:nvPr>
        </p:nvSpPr>
        <p:spPr>
          <a:xfrm>
            <a:off x="352675" y="598300"/>
            <a:ext cx="33183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 sz="100">
                <a:solidFill>
                  <a:schemeClr val="accent4"/>
                </a:solidFill>
              </a:rPr>
              <a:t>aaaaaa</a:t>
            </a:r>
            <a:endParaRPr sz="100">
              <a:solidFill>
                <a:schemeClr val="accent4"/>
              </a:solidFill>
            </a:endParaRPr>
          </a:p>
        </p:txBody>
      </p:sp>
      <p:sp>
        <p:nvSpPr>
          <p:cNvPr id="1970" name="Google Shape;1970;p2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1971" name="Google Shape;1971;p228"/>
          <p:cNvSpPr txBox="1"/>
          <p:nvPr/>
        </p:nvSpPr>
        <p:spPr>
          <a:xfrm>
            <a:off x="1142375" y="1117350"/>
            <a:ext cx="5826600" cy="1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Shuffled features in the test set to measure drop in AUC (importance = performance impact).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Key findings:</a:t>
            </a:r>
            <a:endParaRPr sz="12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2016: sub_grade is the top performance driver; loan_duration and funded_amnt follow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2019–20: int_rate and funded_amnt dominate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Shift over time: loan_duration matters much less later (0.017 → 0.005), while num_il_tl enters the top drivers in 2019–20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972" name="Google Shape;1972;p228" title="HEC_Paris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973" name="Google Shape;1973;p228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228">
            <a:hlinkClick r:id="rId4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75" name="Google Shape;1975;p228">
            <a:hlinkClick r:id="rId4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76" name="Google Shape;1976;p228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228">
            <a:hlinkClick r:id="rId4" action="ppaction://hlinksldjump"/>
          </p:cNvPr>
          <p:cNvSpPr txBox="1"/>
          <p:nvPr/>
        </p:nvSpPr>
        <p:spPr>
          <a:xfrm>
            <a:off x="8004450" y="3215678"/>
            <a:ext cx="7323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Arial"/>
              <a:buNone/>
            </a:pPr>
            <a:r>
              <a:rPr lang="fr" sz="3200" b="1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78" name="Google Shape;1978;p228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979" name="Google Shape;1979;p228" title="step8_permutation_importance_201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9975" y="2743325"/>
            <a:ext cx="3373855" cy="200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0" name="Google Shape;1980;p228" title="step8_permutation_importance_2019_20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92350" y="2743325"/>
            <a:ext cx="3373850" cy="2006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229"/>
          <p:cNvSpPr/>
          <p:nvPr/>
        </p:nvSpPr>
        <p:spPr>
          <a:xfrm>
            <a:off x="713225" y="2084275"/>
            <a:ext cx="837300" cy="837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dist="76200" dir="7680000" algn="bl" rotWithShape="0">
              <a:schemeClr val="accent3">
                <a:alpha val="6275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229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229"/>
          <p:cNvSpPr txBox="1">
            <a:spLocks noGrp="1"/>
          </p:cNvSpPr>
          <p:nvPr>
            <p:ph type="title"/>
          </p:nvPr>
        </p:nvSpPr>
        <p:spPr>
          <a:xfrm>
            <a:off x="1767350" y="2103750"/>
            <a:ext cx="5660400" cy="9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300"/>
              <a:buFont typeface="Arial"/>
              <a:buNone/>
            </a:pPr>
            <a:r>
              <a:rPr lang="fr" sz="3300"/>
              <a:t>Fairness and Conclusion</a:t>
            </a: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300"/>
              <a:buNone/>
            </a:pPr>
            <a:endParaRPr sz="6900"/>
          </a:p>
        </p:txBody>
      </p:sp>
      <p:sp>
        <p:nvSpPr>
          <p:cNvPr id="1988" name="Google Shape;1988;p229"/>
          <p:cNvSpPr txBox="1">
            <a:spLocks noGrp="1"/>
          </p:cNvSpPr>
          <p:nvPr>
            <p:ph type="subTitle" idx="1"/>
          </p:nvPr>
        </p:nvSpPr>
        <p:spPr>
          <a:xfrm>
            <a:off x="1767350" y="2749372"/>
            <a:ext cx="3511800" cy="12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/>
              <a:t>Challenges &amp; Solutions</a:t>
            </a:r>
            <a:br>
              <a:rPr lang="fr"/>
            </a:br>
            <a:r>
              <a:rPr lang="fr"/>
              <a:t>Conclusion &amp; Takeaways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9" name="Google Shape;1989;p229"/>
          <p:cNvSpPr txBox="1">
            <a:spLocks noGrp="1"/>
          </p:cNvSpPr>
          <p:nvPr>
            <p:ph type="title" idx="2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>
                <a:solidFill>
                  <a:schemeClr val="accent4"/>
                </a:solidFill>
              </a:rPr>
              <a:t>04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990" name="Google Shape;1990;p229"/>
          <p:cNvSpPr/>
          <p:nvPr/>
        </p:nvSpPr>
        <p:spPr>
          <a:xfrm flipH="1">
            <a:off x="6923396" y="3184061"/>
            <a:ext cx="336704" cy="336704"/>
          </a:xfrm>
          <a:custGeom>
            <a:avLst/>
            <a:gdLst/>
            <a:ahLst/>
            <a:cxnLst/>
            <a:rect l="l" t="t" r="r" b="b"/>
            <a:pathLst>
              <a:path w="18587" h="18587" extrusionOk="0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229"/>
          <p:cNvSpPr/>
          <p:nvPr/>
        </p:nvSpPr>
        <p:spPr>
          <a:xfrm>
            <a:off x="7191450" y="2234738"/>
            <a:ext cx="336723" cy="337013"/>
          </a:xfrm>
          <a:custGeom>
            <a:avLst/>
            <a:gdLst/>
            <a:ahLst/>
            <a:cxnLst/>
            <a:rect l="l" t="t" r="r" b="b"/>
            <a:pathLst>
              <a:path w="18565" h="18581" extrusionOk="0">
                <a:moveTo>
                  <a:pt x="15647" y="1454"/>
                </a:moveTo>
                <a:cubicBezTo>
                  <a:pt x="16021" y="1454"/>
                  <a:pt x="16397" y="1593"/>
                  <a:pt x="16687" y="1871"/>
                </a:cubicBezTo>
                <a:cubicBezTo>
                  <a:pt x="16942" y="2150"/>
                  <a:pt x="17104" y="2520"/>
                  <a:pt x="17104" y="2891"/>
                </a:cubicBezTo>
                <a:cubicBezTo>
                  <a:pt x="17104" y="3285"/>
                  <a:pt x="16965" y="3656"/>
                  <a:pt x="16687" y="3934"/>
                </a:cubicBezTo>
                <a:lnTo>
                  <a:pt x="5331" y="15336"/>
                </a:lnTo>
                <a:lnTo>
                  <a:pt x="3268" y="13274"/>
                </a:lnTo>
                <a:lnTo>
                  <a:pt x="11055" y="5464"/>
                </a:lnTo>
                <a:lnTo>
                  <a:pt x="12237" y="6646"/>
                </a:lnTo>
                <a:lnTo>
                  <a:pt x="13257" y="5626"/>
                </a:lnTo>
                <a:lnTo>
                  <a:pt x="12075" y="4444"/>
                </a:lnTo>
                <a:lnTo>
                  <a:pt x="13164" y="3331"/>
                </a:lnTo>
                <a:lnTo>
                  <a:pt x="14369" y="4513"/>
                </a:lnTo>
                <a:lnTo>
                  <a:pt x="15389" y="3494"/>
                </a:lnTo>
                <a:lnTo>
                  <a:pt x="14184" y="2312"/>
                </a:lnTo>
                <a:lnTo>
                  <a:pt x="14624" y="1871"/>
                </a:lnTo>
                <a:cubicBezTo>
                  <a:pt x="14902" y="1593"/>
                  <a:pt x="15273" y="1454"/>
                  <a:pt x="15647" y="1454"/>
                </a:cubicBezTo>
                <a:close/>
                <a:moveTo>
                  <a:pt x="2411" y="14479"/>
                </a:moveTo>
                <a:lnTo>
                  <a:pt x="4103" y="16171"/>
                </a:lnTo>
                <a:lnTo>
                  <a:pt x="2550" y="16518"/>
                </a:lnTo>
                <a:lnTo>
                  <a:pt x="2063" y="16031"/>
                </a:lnTo>
                <a:lnTo>
                  <a:pt x="2411" y="14479"/>
                </a:lnTo>
                <a:close/>
                <a:moveTo>
                  <a:pt x="15647" y="0"/>
                </a:moveTo>
                <a:cubicBezTo>
                  <a:pt x="14902" y="0"/>
                  <a:pt x="14161" y="284"/>
                  <a:pt x="13605" y="852"/>
                </a:cubicBezTo>
                <a:lnTo>
                  <a:pt x="1901" y="12602"/>
                </a:lnTo>
                <a:cubicBezTo>
                  <a:pt x="1507" y="12972"/>
                  <a:pt x="1229" y="13459"/>
                  <a:pt x="1044" y="13946"/>
                </a:cubicBezTo>
                <a:lnTo>
                  <a:pt x="1044" y="13992"/>
                </a:lnTo>
                <a:lnTo>
                  <a:pt x="1" y="18581"/>
                </a:lnTo>
                <a:lnTo>
                  <a:pt x="4613" y="17561"/>
                </a:lnTo>
                <a:lnTo>
                  <a:pt x="4636" y="17538"/>
                </a:lnTo>
                <a:cubicBezTo>
                  <a:pt x="5146" y="17376"/>
                  <a:pt x="5632" y="17074"/>
                  <a:pt x="6003" y="16704"/>
                </a:cubicBezTo>
                <a:lnTo>
                  <a:pt x="17707" y="4954"/>
                </a:lnTo>
                <a:cubicBezTo>
                  <a:pt x="18263" y="4398"/>
                  <a:pt x="18564" y="3679"/>
                  <a:pt x="18564" y="2891"/>
                </a:cubicBezTo>
                <a:cubicBezTo>
                  <a:pt x="18564" y="2126"/>
                  <a:pt x="18263" y="1385"/>
                  <a:pt x="17707" y="852"/>
                </a:cubicBezTo>
                <a:cubicBezTo>
                  <a:pt x="17139" y="284"/>
                  <a:pt x="16391" y="0"/>
                  <a:pt x="15647" y="0"/>
                </a:cubicBezTo>
                <a:close/>
                <a:moveTo>
                  <a:pt x="7625" y="17121"/>
                </a:moveTo>
                <a:lnTo>
                  <a:pt x="6189" y="18581"/>
                </a:lnTo>
                <a:lnTo>
                  <a:pt x="18564" y="18581"/>
                </a:lnTo>
                <a:lnTo>
                  <a:pt x="18564" y="1712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229"/>
          <p:cNvSpPr/>
          <p:nvPr/>
        </p:nvSpPr>
        <p:spPr>
          <a:xfrm>
            <a:off x="8019150" y="4013775"/>
            <a:ext cx="702900" cy="624000"/>
          </a:xfrm>
          <a:prstGeom prst="roundRect">
            <a:avLst>
              <a:gd name="adj" fmla="val 2340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229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94" name="Google Shape;1994;p229">
            <a:hlinkClick r:id="rId3" action="ppaction://hlinksldjump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95" name="Google Shape;1995;p229">
            <a:hlinkClick r:id="rId3" action="ppaction://hlinksldjump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96" name="Google Shape;1996;p229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997" name="Google Shape;1997;p229"/>
          <p:cNvCxnSpPr/>
          <p:nvPr/>
        </p:nvCxnSpPr>
        <p:spPr>
          <a:xfrm>
            <a:off x="713225" y="789025"/>
            <a:ext cx="67146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8" name="Google Shape;1998;p229"/>
          <p:cNvSpPr txBox="1"/>
          <p:nvPr/>
        </p:nvSpPr>
        <p:spPr>
          <a:xfrm>
            <a:off x="713225" y="539500"/>
            <a:ext cx="458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September-2025</a:t>
            </a: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99" name="Google Shape;1999;p2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pic>
        <p:nvPicPr>
          <p:cNvPr id="2000" name="Google Shape;2000;p229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230"/>
          <p:cNvSpPr txBox="1">
            <a:spLocks noGrp="1"/>
          </p:cNvSpPr>
          <p:nvPr>
            <p:ph type="title"/>
          </p:nvPr>
        </p:nvSpPr>
        <p:spPr>
          <a:xfrm>
            <a:off x="2017650" y="426075"/>
            <a:ext cx="51087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2300"/>
              <a:t>Fairness Assessment (Ethnicity)</a:t>
            </a:r>
            <a:endParaRPr sz="2300"/>
          </a:p>
        </p:txBody>
      </p:sp>
      <p:sp>
        <p:nvSpPr>
          <p:cNvPr id="2006" name="Google Shape;2006;p2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2007" name="Google Shape;2007;p230"/>
          <p:cNvSpPr txBox="1"/>
          <p:nvPr/>
        </p:nvSpPr>
        <p:spPr>
          <a:xfrm>
            <a:off x="1299750" y="952575"/>
            <a:ext cx="5826600" cy="11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Grouped Pct_afro_american into 4 quantiles per period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Audited at deployed threshold </a:t>
            </a:r>
            <a:r>
              <a:rPr lang="fr" sz="12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0.78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(selection rate = reject rate)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80% rule: 2016 ratio 0.794 (borderline fail); 2019–20 ratio 0.595 (clear fail)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2008" name="Google Shape;2008;p230" title="HEC_Paris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9" name="Google Shape;2009;p230" title="step9_fairness_selection_rate_20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950" y="2127950"/>
            <a:ext cx="3573325" cy="221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0" name="Google Shape;2010;p230" title="step9_fairness_selection_rate_2019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264" y="2127950"/>
            <a:ext cx="3617613" cy="2238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230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230">
            <a:hlinkClick r:id="rId6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13" name="Google Shape;2013;p230">
            <a:hlinkClick r:id="rId6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14" name="Google Shape;2014;p230">
            <a:hlinkClick r:id="rId6" action="ppaction://hlinksldjump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15" name="Google Shape;2015;p230"/>
          <p:cNvSpPr/>
          <p:nvPr/>
        </p:nvSpPr>
        <p:spPr>
          <a:xfrm>
            <a:off x="8004450" y="4013775"/>
            <a:ext cx="747000" cy="624000"/>
          </a:xfrm>
          <a:prstGeom prst="roundRect">
            <a:avLst>
              <a:gd name="adj" fmla="val 2340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Arial"/>
              <a:buNone/>
            </a:pPr>
            <a:r>
              <a:rPr lang="fr" sz="3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04</a:t>
            </a:r>
            <a:endParaRPr sz="32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231"/>
          <p:cNvSpPr txBox="1">
            <a:spLocks noGrp="1"/>
          </p:cNvSpPr>
          <p:nvPr>
            <p:ph type="title"/>
          </p:nvPr>
        </p:nvSpPr>
        <p:spPr>
          <a:xfrm>
            <a:off x="2808575" y="426075"/>
            <a:ext cx="28299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2300"/>
              <a:t>Key Insights</a:t>
            </a:r>
            <a:endParaRPr sz="2300"/>
          </a:p>
        </p:txBody>
      </p:sp>
      <p:sp>
        <p:nvSpPr>
          <p:cNvPr id="2021" name="Google Shape;2021;p2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2022" name="Google Shape;2022;p231"/>
          <p:cNvSpPr txBox="1"/>
          <p:nvPr/>
        </p:nvSpPr>
        <p:spPr>
          <a:xfrm>
            <a:off x="1142175" y="952575"/>
            <a:ext cx="58266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AUC stable across groups in both periods (≈0.71–0.73): similar ranking quality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Error rates rise with higher % African American:</a:t>
            </a:r>
            <a:r>
              <a:rPr lang="fr" sz="12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Equalized Odds not satisfied</a:t>
            </a:r>
            <a:endParaRPr sz="12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80% rule (selection-rate ratio) fails and worsens over time: 2016 = 0.794, 2019–20 = 0.595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2023" name="Google Shape;2023;p231" title="HEC_Paris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024" name="Google Shape;2024;p231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231">
            <a:hlinkClick r:id="rId4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26" name="Google Shape;2026;p231">
            <a:hlinkClick r:id="rId4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27" name="Google Shape;2027;p231">
            <a:hlinkClick r:id="rId4" action="ppaction://hlinksldjump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28" name="Google Shape;2028;p231"/>
          <p:cNvSpPr/>
          <p:nvPr/>
        </p:nvSpPr>
        <p:spPr>
          <a:xfrm>
            <a:off x="8004450" y="4013775"/>
            <a:ext cx="747000" cy="624000"/>
          </a:xfrm>
          <a:prstGeom prst="roundRect">
            <a:avLst>
              <a:gd name="adj" fmla="val 2340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Arial"/>
              <a:buNone/>
            </a:pPr>
            <a:r>
              <a:rPr lang="fr" sz="3200" b="1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r>
              <a:rPr lang="fr" sz="3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4</a:t>
            </a:r>
            <a:endParaRPr sz="32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2029" name="Google Shape;2029;p231" title="step9_fairness_tpr_fpr_20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735" y="2024775"/>
            <a:ext cx="3599176" cy="222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0" name="Google Shape;2030;p231" title="step9_fairness_tpr_fpr_2019_202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2082" y="2024775"/>
            <a:ext cx="3599160" cy="222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232"/>
          <p:cNvSpPr/>
          <p:nvPr/>
        </p:nvSpPr>
        <p:spPr>
          <a:xfrm>
            <a:off x="8138263" y="641694"/>
            <a:ext cx="464675" cy="465250"/>
          </a:xfrm>
          <a:custGeom>
            <a:avLst/>
            <a:gdLst/>
            <a:ahLst/>
            <a:cxnLst/>
            <a:rect l="l" t="t" r="r" b="b"/>
            <a:pathLst>
              <a:path w="18587" h="18610" extrusionOk="0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232">
            <a:hlinkClick r:id="rId3" action="ppaction://hlinksldjump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sz="3200" b="1" i="0" u="none" strike="noStrike" cap="non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37" name="Google Shape;2037;p232">
            <a:hlinkClick r:id="rId3" action="ppaction://hlinksldjump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3200" b="1" i="0" u="none" strike="noStrike" cap="non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38" name="Google Shape;2038;p232">
            <a:hlinkClick r:id="rId3" action="ppaction://hlinksldjump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3200" b="1" i="0" u="none" strike="noStrike" cap="non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2039" name="Google Shape;2039;p232"/>
          <p:cNvCxnSpPr/>
          <p:nvPr/>
        </p:nvCxnSpPr>
        <p:spPr>
          <a:xfrm>
            <a:off x="713225" y="789025"/>
            <a:ext cx="67146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40" name="Google Shape;2040;p232"/>
          <p:cNvSpPr txBox="1"/>
          <p:nvPr/>
        </p:nvSpPr>
        <p:spPr>
          <a:xfrm>
            <a:off x="713225" y="539500"/>
            <a:ext cx="458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September-2025</a:t>
            </a: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41" name="Google Shape;2041;p2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2042" name="Google Shape;2042;p232">
            <a:hlinkClick r:id="" action="ppaction://noaction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" sz="32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sz="3200" b="1" i="0" u="none" strike="noStrike" cap="non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43" name="Google Shape;2043;p232"/>
          <p:cNvSpPr txBox="1">
            <a:spLocks noGrp="1"/>
          </p:cNvSpPr>
          <p:nvPr>
            <p:ph type="title"/>
          </p:nvPr>
        </p:nvSpPr>
        <p:spPr>
          <a:xfrm>
            <a:off x="612950" y="828900"/>
            <a:ext cx="61482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300"/>
              <a:buFont typeface="Arial"/>
              <a:buNone/>
            </a:pPr>
            <a:r>
              <a:rPr lang="fr" sz="3300"/>
              <a:t>FPDP using equality of opportunity</a:t>
            </a: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300"/>
              <a:buFont typeface="Arial"/>
              <a:buNone/>
            </a:pPr>
            <a:endParaRPr sz="3300"/>
          </a:p>
        </p:txBody>
      </p:sp>
      <p:pic>
        <p:nvPicPr>
          <p:cNvPr id="2044" name="Google Shape;2044;p232" title="HEC_Paris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2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8300" y="1980675"/>
            <a:ext cx="2968793" cy="225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6" name="Google Shape;2046;p2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6974" y="1951212"/>
            <a:ext cx="3337601" cy="23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1048</Words>
  <Application>Microsoft Office PowerPoint</Application>
  <PresentationFormat>On-screen Show (16:9)</PresentationFormat>
  <Paragraphs>238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Roboto</vt:lpstr>
      <vt:lpstr>Courier New</vt:lpstr>
      <vt:lpstr>Questrial</vt:lpstr>
      <vt:lpstr>Arial</vt:lpstr>
      <vt:lpstr>Didact Gothic</vt:lpstr>
      <vt:lpstr>Simple Light</vt:lpstr>
      <vt:lpstr>Project Tasks and To-Do Lists for Business by Slidesgo</vt:lpstr>
      <vt:lpstr>Project Tasks and To-Do Lists for Business by Slidesgo</vt:lpstr>
      <vt:lpstr>Project Tasks and To-Do Lists for Business by Slidesgo</vt:lpstr>
      <vt:lpstr>Project Tasks and To-Do Lists for Business by Slidesgo</vt:lpstr>
      <vt:lpstr>Project Tasks and To-Do Lists for Business by Slidesgo</vt:lpstr>
      <vt:lpstr>Project Tasks and To-Do Lists for Business by Slidesgo</vt:lpstr>
      <vt:lpstr>Project Tasks and To-Do Lists for Business by Slidesgo</vt:lpstr>
      <vt:lpstr>Project Tasks and To-Do Lists for Business by Slidesgo</vt:lpstr>
      <vt:lpstr>Project Tasks and To-Do Lists for Business by Slidesgo</vt:lpstr>
      <vt:lpstr>Project Tasks and To-Do Lists for Business by Slidesgo</vt:lpstr>
      <vt:lpstr>Interpretability, stability and  algorithmic fairness</vt:lpstr>
      <vt:lpstr>Summary</vt:lpstr>
      <vt:lpstr>The Project</vt:lpstr>
      <vt:lpstr>Key Concepts</vt:lpstr>
      <vt:lpstr>   Dataset and problem</vt:lpstr>
      <vt:lpstr>Surrogate Model</vt:lpstr>
      <vt:lpstr>Development of a Proposed Model</vt:lpstr>
      <vt:lpstr>Data Preparation</vt:lpstr>
      <vt:lpstr>Performance analysis</vt:lpstr>
      <vt:lpstr>Stability analysis</vt:lpstr>
      <vt:lpstr>Interpretability  </vt:lpstr>
      <vt:lpstr>Global interpretability </vt:lpstr>
      <vt:lpstr>Global interpretability </vt:lpstr>
      <vt:lpstr>Local interpretability </vt:lpstr>
      <vt:lpstr>Local interpretability </vt:lpstr>
      <vt:lpstr>Performance Interpretability (Permutation Importance)</vt:lpstr>
      <vt:lpstr>Fairness and Conclusion </vt:lpstr>
      <vt:lpstr>Fairness Assessment (Ethnicity)</vt:lpstr>
      <vt:lpstr>Key Insights</vt:lpstr>
      <vt:lpstr>FPDP using equality of opportunity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Cedric Emmanuel kire</dc:creator>
  <cp:lastModifiedBy>Cedric KIRE</cp:lastModifiedBy>
  <cp:revision>3</cp:revision>
  <dcterms:modified xsi:type="dcterms:W3CDTF">2025-11-10T16:30:28Z</dcterms:modified>
</cp:coreProperties>
</file>